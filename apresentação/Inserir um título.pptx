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aret Bold" charset="1" panose="00000000000000000000"/>
      <p:regular r:id="rId25"/>
    </p:embeddedFont>
    <p:embeddedFont>
      <p:font typeface="Archivo Black" charset="1" panose="020B0A03020202020B04"/>
      <p:regular r:id="rId26"/>
    </p:embeddedFont>
    <p:embeddedFont>
      <p:font typeface="Open Sans" charset="1" panose="020B0606030504020204"/>
      <p:regular r:id="rId27"/>
    </p:embeddedFont>
    <p:embeddedFont>
      <p:font typeface="Montserrat Bold" charset="1" panose="00000800000000000000"/>
      <p:regular r:id="rId28"/>
    </p:embeddedFont>
    <p:embeddedFont>
      <p:font typeface="Open Sans Bold" charset="1" panose="020B0806030504020204"/>
      <p:regular r:id="rId29"/>
    </p:embeddedFont>
    <p:embeddedFont>
      <p:font typeface="Helvetica Now Heavy" charset="1" panose="020B0A04030202020204"/>
      <p:regular r:id="rId30"/>
    </p:embeddedFont>
    <p:embeddedFont>
      <p:font typeface="Helvetica Now Bold" charset="1" panose="020B0804030202020204"/>
      <p:regular r:id="rId31"/>
    </p:embeddedFont>
    <p:embeddedFont>
      <p:font typeface="Helvetica Now" charset="1" panose="020B0504030202020204"/>
      <p:regular r:id="rId32"/>
    </p:embeddedFont>
    <p:embeddedFont>
      <p:font typeface="Helvetica" charset="1" panose="020B0504020202020204"/>
      <p:regular r:id="rId33"/>
    </p:embeddedFont>
    <p:embeddedFont>
      <p:font typeface="Ballpoint" charset="1" panose="00000000000000000000"/>
      <p:regular r:id="rId34"/>
    </p:embeddedFont>
    <p:embeddedFont>
      <p:font typeface="Helvetica Bold" charset="1" panose="020B0704020202030204"/>
      <p:regular r:id="rId35"/>
    </p:embeddedFont>
    <p:embeddedFont>
      <p:font typeface="Helvetica Italics" charset="1" panose="020B0504020202090204"/>
      <p:regular r:id="rId36"/>
    </p:embeddedFont>
    <p:embeddedFont>
      <p:font typeface="Helvetica Bold Italics" charset="1" panose="020B0704020202090204"/>
      <p:regular r:id="rId37"/>
    </p:embeddedFont>
    <p:embeddedFont>
      <p:font typeface="Helvetica World Bold" charset="1" panose="020B0800040000020004"/>
      <p:regular r:id="rId38"/>
    </p:embeddedFont>
    <p:embeddedFont>
      <p:font typeface="Overpass Ultra-Bold" charset="1" panose="00000900000000000000"/>
      <p:regular r:id="rId39"/>
    </p:embeddedFont>
    <p:embeddedFont>
      <p:font typeface="Cooper Hewitt" charset="1" panose="00000000000000000000"/>
      <p:regular r:id="rId40"/>
    </p:embeddedFont>
    <p:embeddedFont>
      <p:font typeface="Montaser Arabic Bold" charset="1" panose="000008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15" Target="../media/image54.png" Type="http://schemas.openxmlformats.org/officeDocument/2006/relationships/image"/><Relationship Id="rId16" Target="../media/image55.png" Type="http://schemas.openxmlformats.org/officeDocument/2006/relationships/image"/><Relationship Id="rId17" Target="../media/image56.png" Type="http://schemas.openxmlformats.org/officeDocument/2006/relationships/image"/><Relationship Id="rId18" Target="../media/image57.png" Type="http://schemas.openxmlformats.org/officeDocument/2006/relationships/image"/><Relationship Id="rId19" Target="../media/image58.png" Type="http://schemas.openxmlformats.org/officeDocument/2006/relationships/image"/><Relationship Id="rId2" Target="../media/image41.png" Type="http://schemas.openxmlformats.org/officeDocument/2006/relationships/image"/><Relationship Id="rId20" Target="../media/image59.png" Type="http://schemas.openxmlformats.org/officeDocument/2006/relationships/image"/><Relationship Id="rId21" Target="../media/image60.png" Type="http://schemas.openxmlformats.org/officeDocument/2006/relationships/image"/><Relationship Id="rId22" Target="../media/image61.png" Type="http://schemas.openxmlformats.org/officeDocument/2006/relationships/image"/><Relationship Id="rId23" Target="../media/image62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74.png" Type="http://schemas.openxmlformats.org/officeDocument/2006/relationships/image"/><Relationship Id="rId14" Target="../media/image75.svg" Type="http://schemas.openxmlformats.org/officeDocument/2006/relationships/image"/><Relationship Id="rId15" Target="../media/image76.png" Type="http://schemas.openxmlformats.org/officeDocument/2006/relationships/image"/><Relationship Id="rId16" Target="../media/image77.svg" Type="http://schemas.openxmlformats.org/officeDocument/2006/relationships/image"/><Relationship Id="rId17" Target="../media/image78.png" Type="http://schemas.openxmlformats.org/officeDocument/2006/relationships/image"/><Relationship Id="rId18" Target="../media/image44.png" Type="http://schemas.openxmlformats.org/officeDocument/2006/relationships/image"/><Relationship Id="rId19" Target="../media/image45.png" Type="http://schemas.openxmlformats.org/officeDocument/2006/relationships/image"/><Relationship Id="rId2" Target="../media/image1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87.png" Type="http://schemas.openxmlformats.org/officeDocument/2006/relationships/image"/><Relationship Id="rId12" Target="../media/image88.png" Type="http://schemas.openxmlformats.org/officeDocument/2006/relationships/image"/><Relationship Id="rId13" Target="../media/image78.png" Type="http://schemas.openxmlformats.org/officeDocument/2006/relationships/image"/><Relationship Id="rId14" Target="../media/image89.png" Type="http://schemas.openxmlformats.org/officeDocument/2006/relationships/image"/><Relationship Id="rId15" Target="../media/image90.png" Type="http://schemas.openxmlformats.org/officeDocument/2006/relationships/image"/><Relationship Id="rId16" Target="../media/image91.png" Type="http://schemas.openxmlformats.org/officeDocument/2006/relationships/image"/><Relationship Id="rId17" Target="../media/image92.png" Type="http://schemas.openxmlformats.org/officeDocument/2006/relationships/image"/><Relationship Id="rId18" Target="../media/image93.png" Type="http://schemas.openxmlformats.org/officeDocument/2006/relationships/image"/><Relationship Id="rId19" Target="../media/image94.png" Type="http://schemas.openxmlformats.org/officeDocument/2006/relationships/image"/><Relationship Id="rId2" Target="../media/image79.png" Type="http://schemas.openxmlformats.org/officeDocument/2006/relationships/image"/><Relationship Id="rId20" Target="../media/image95.png" Type="http://schemas.openxmlformats.org/officeDocument/2006/relationships/image"/><Relationship Id="rId21" Target="../media/image96.png" Type="http://schemas.openxmlformats.org/officeDocument/2006/relationships/image"/><Relationship Id="rId22" Target="../media/image97.png" Type="http://schemas.openxmlformats.org/officeDocument/2006/relationships/image"/><Relationship Id="rId23" Target="../media/image98.png" Type="http://schemas.openxmlformats.org/officeDocument/2006/relationships/image"/><Relationship Id="rId24" Target="../media/image99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svg" Type="http://schemas.openxmlformats.org/officeDocument/2006/relationships/image"/><Relationship Id="rId11" Target="../media/image108.png" Type="http://schemas.openxmlformats.org/officeDocument/2006/relationships/image"/><Relationship Id="rId12" Target="../media/image109.svg" Type="http://schemas.openxmlformats.org/officeDocument/2006/relationships/image"/><Relationship Id="rId2" Target="../media/image1.jpeg" Type="http://schemas.openxmlformats.org/officeDocument/2006/relationships/image"/><Relationship Id="rId3" Target="../media/image100.png" Type="http://schemas.openxmlformats.org/officeDocument/2006/relationships/image"/><Relationship Id="rId4" Target="../media/image101.sv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Relationship Id="rId8" Target="../media/image105.pn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media/image119.png" Type="http://schemas.openxmlformats.org/officeDocument/2006/relationships/image"/><Relationship Id="rId13" Target="../media/image120.svg" Type="http://schemas.openxmlformats.org/officeDocument/2006/relationships/image"/><Relationship Id="rId2" Target="../media/image1.jpeg" Type="http://schemas.openxmlformats.org/officeDocument/2006/relationships/image"/><Relationship Id="rId3" Target="../media/image110.png" Type="http://schemas.openxmlformats.org/officeDocument/2006/relationships/image"/><Relationship Id="rId4" Target="../media/image111.svg" Type="http://schemas.openxmlformats.org/officeDocument/2006/relationships/image"/><Relationship Id="rId5" Target="../media/image112.png" Type="http://schemas.openxmlformats.org/officeDocument/2006/relationships/image"/><Relationship Id="rId6" Target="../media/image113.svg" Type="http://schemas.openxmlformats.org/officeDocument/2006/relationships/image"/><Relationship Id="rId7" Target="../media/image114.pn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1.png" Type="http://schemas.openxmlformats.org/officeDocument/2006/relationships/image"/><Relationship Id="rId4" Target="../media/image122.png" Type="http://schemas.openxmlformats.org/officeDocument/2006/relationships/image"/><Relationship Id="rId5" Target="../media/image1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24.png" Type="http://schemas.openxmlformats.org/officeDocument/2006/relationships/image"/><Relationship Id="rId6" Target="../media/image12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engineering.atspotify.com/2026/6/code-with-claude-coding-is-no-longer-the-constrain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2618035" cy="1323744"/>
          </a:xfrm>
          <a:custGeom>
            <a:avLst/>
            <a:gdLst/>
            <a:ahLst/>
            <a:cxnLst/>
            <a:rect r="r" b="b" t="t" l="l"/>
            <a:pathLst>
              <a:path h="1323744" w="2618035">
                <a:moveTo>
                  <a:pt x="0" y="0"/>
                </a:moveTo>
                <a:lnTo>
                  <a:pt x="2618035" y="0"/>
                </a:lnTo>
                <a:lnTo>
                  <a:pt x="2618035" y="1323744"/>
                </a:lnTo>
                <a:lnTo>
                  <a:pt x="0" y="1323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081010"/>
            <a:ext cx="2447265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Arthur Trevisan</a:t>
            </a:r>
          </a:p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Luis Fernando</a:t>
            </a:r>
          </a:p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Rafaella Sthefanny 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80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Ricardo Orth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25215" y="3950633"/>
            <a:ext cx="11434085" cy="122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PRODUTIVIDADE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6300" y="7105362"/>
            <a:ext cx="1655400" cy="1647123"/>
          </a:xfrm>
          <a:custGeom>
            <a:avLst/>
            <a:gdLst/>
            <a:ahLst/>
            <a:cxnLst/>
            <a:rect r="r" b="b" t="t" l="l"/>
            <a:pathLst>
              <a:path h="1647123" w="1655400">
                <a:moveTo>
                  <a:pt x="0" y="0"/>
                </a:moveTo>
                <a:lnTo>
                  <a:pt x="1655400" y="0"/>
                </a:lnTo>
                <a:lnTo>
                  <a:pt x="1655400" y="1647123"/>
                </a:lnTo>
                <a:lnTo>
                  <a:pt x="0" y="1647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8603" y="5288500"/>
            <a:ext cx="5280847" cy="5280847"/>
          </a:xfrm>
          <a:custGeom>
            <a:avLst/>
            <a:gdLst/>
            <a:ahLst/>
            <a:cxnLst/>
            <a:rect r="r" b="b" t="t" l="l"/>
            <a:pathLst>
              <a:path h="5280847" w="5280847">
                <a:moveTo>
                  <a:pt x="0" y="0"/>
                </a:moveTo>
                <a:lnTo>
                  <a:pt x="5280847" y="0"/>
                </a:lnTo>
                <a:lnTo>
                  <a:pt x="5280847" y="5280847"/>
                </a:lnTo>
                <a:lnTo>
                  <a:pt x="0" y="528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34341" y="5788232"/>
            <a:ext cx="4281384" cy="4281384"/>
          </a:xfrm>
          <a:custGeom>
            <a:avLst/>
            <a:gdLst/>
            <a:ahLst/>
            <a:cxnLst/>
            <a:rect r="r" b="b" t="t" l="l"/>
            <a:pathLst>
              <a:path h="4281384" w="4281384">
                <a:moveTo>
                  <a:pt x="0" y="0"/>
                </a:moveTo>
                <a:lnTo>
                  <a:pt x="4281383" y="0"/>
                </a:lnTo>
                <a:lnTo>
                  <a:pt x="4281383" y="4281384"/>
                </a:lnTo>
                <a:lnTo>
                  <a:pt x="0" y="4281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472065"/>
            <a:ext cx="18288000" cy="263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b="true" sz="7600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IA TORNA OS DESENVOLVEDORES MELHORES?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01340" y="302583"/>
            <a:ext cx="12085320" cy="1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PERGUNTA PRINCIPAL 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01912" y="5832265"/>
            <a:ext cx="2178872" cy="4492519"/>
          </a:xfrm>
          <a:custGeom>
            <a:avLst/>
            <a:gdLst/>
            <a:ahLst/>
            <a:cxnLst/>
            <a:rect r="r" b="b" t="t" l="l"/>
            <a:pathLst>
              <a:path h="4492519" w="2178872">
                <a:moveTo>
                  <a:pt x="0" y="0"/>
                </a:moveTo>
                <a:lnTo>
                  <a:pt x="2178871" y="0"/>
                </a:lnTo>
                <a:lnTo>
                  <a:pt x="2178871" y="4492519"/>
                </a:lnTo>
                <a:lnTo>
                  <a:pt x="0" y="4492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13264" y="4793012"/>
            <a:ext cx="1420694" cy="1193383"/>
          </a:xfrm>
          <a:custGeom>
            <a:avLst/>
            <a:gdLst/>
            <a:ahLst/>
            <a:cxnLst/>
            <a:rect r="r" b="b" t="t" l="l"/>
            <a:pathLst>
              <a:path h="1193383" w="1420694">
                <a:moveTo>
                  <a:pt x="0" y="0"/>
                </a:moveTo>
                <a:lnTo>
                  <a:pt x="1420694" y="0"/>
                </a:lnTo>
                <a:lnTo>
                  <a:pt x="1420694" y="1193382"/>
                </a:lnTo>
                <a:lnTo>
                  <a:pt x="0" y="11933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87543" y="4732703"/>
            <a:ext cx="1397872" cy="1314000"/>
          </a:xfrm>
          <a:custGeom>
            <a:avLst/>
            <a:gdLst/>
            <a:ahLst/>
            <a:cxnLst/>
            <a:rect r="r" b="b" t="t" l="l"/>
            <a:pathLst>
              <a:path h="1314000" w="1397872">
                <a:moveTo>
                  <a:pt x="0" y="0"/>
                </a:moveTo>
                <a:lnTo>
                  <a:pt x="1397872" y="0"/>
                </a:lnTo>
                <a:lnTo>
                  <a:pt x="1397872" y="1314000"/>
                </a:lnTo>
                <a:lnTo>
                  <a:pt x="0" y="1314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32989" y="7576960"/>
            <a:ext cx="1471173" cy="1681340"/>
          </a:xfrm>
          <a:custGeom>
            <a:avLst/>
            <a:gdLst/>
            <a:ahLst/>
            <a:cxnLst/>
            <a:rect r="r" b="b" t="t" l="l"/>
            <a:pathLst>
              <a:path h="1681340" w="1471173">
                <a:moveTo>
                  <a:pt x="0" y="0"/>
                </a:moveTo>
                <a:lnTo>
                  <a:pt x="1471173" y="0"/>
                </a:lnTo>
                <a:lnTo>
                  <a:pt x="1471173" y="1681340"/>
                </a:lnTo>
                <a:lnTo>
                  <a:pt x="0" y="16813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51730" y="7833242"/>
            <a:ext cx="1104491" cy="1043744"/>
          </a:xfrm>
          <a:custGeom>
            <a:avLst/>
            <a:gdLst/>
            <a:ahLst/>
            <a:cxnLst/>
            <a:rect r="r" b="b" t="t" l="l"/>
            <a:pathLst>
              <a:path h="1043744" w="1104491">
                <a:moveTo>
                  <a:pt x="0" y="0"/>
                </a:moveTo>
                <a:lnTo>
                  <a:pt x="1104491" y="0"/>
                </a:lnTo>
                <a:lnTo>
                  <a:pt x="1104491" y="1043745"/>
                </a:lnTo>
                <a:lnTo>
                  <a:pt x="0" y="10437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80958" y="7022006"/>
            <a:ext cx="1975321" cy="3264994"/>
          </a:xfrm>
          <a:custGeom>
            <a:avLst/>
            <a:gdLst/>
            <a:ahLst/>
            <a:cxnLst/>
            <a:rect r="r" b="b" t="t" l="l"/>
            <a:pathLst>
              <a:path h="3264994" w="1975321">
                <a:moveTo>
                  <a:pt x="0" y="0"/>
                </a:moveTo>
                <a:lnTo>
                  <a:pt x="1975322" y="0"/>
                </a:lnTo>
                <a:lnTo>
                  <a:pt x="1975322" y="3264994"/>
                </a:lnTo>
                <a:lnTo>
                  <a:pt x="0" y="32649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4228" y="8608528"/>
            <a:ext cx="1299544" cy="1299544"/>
          </a:xfrm>
          <a:custGeom>
            <a:avLst/>
            <a:gdLst/>
            <a:ahLst/>
            <a:cxnLst/>
            <a:rect r="r" b="b" t="t" l="l"/>
            <a:pathLst>
              <a:path h="1299544" w="1299544">
                <a:moveTo>
                  <a:pt x="0" y="0"/>
                </a:moveTo>
                <a:lnTo>
                  <a:pt x="1299544" y="0"/>
                </a:lnTo>
                <a:lnTo>
                  <a:pt x="1299544" y="1299544"/>
                </a:lnTo>
                <a:lnTo>
                  <a:pt x="0" y="12995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71494" y="3802783"/>
            <a:ext cx="1245467" cy="1245467"/>
          </a:xfrm>
          <a:custGeom>
            <a:avLst/>
            <a:gdLst/>
            <a:ahLst/>
            <a:cxnLst/>
            <a:rect r="r" b="b" t="t" l="l"/>
            <a:pathLst>
              <a:path h="1245467" w="1245467">
                <a:moveTo>
                  <a:pt x="0" y="0"/>
                </a:moveTo>
                <a:lnTo>
                  <a:pt x="1245467" y="0"/>
                </a:lnTo>
                <a:lnTo>
                  <a:pt x="1245467" y="1245467"/>
                </a:lnTo>
                <a:lnTo>
                  <a:pt x="0" y="12454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4242" y="502698"/>
            <a:ext cx="17639515" cy="267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 o que seria, de fato, ser um desenvolvedor “melhor”?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32989" y="6227678"/>
            <a:ext cx="2506980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EFICIÊNCIA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91001" y="6081711"/>
            <a:ext cx="3665220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CONHECIMENTO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6626" y="8943030"/>
            <a:ext cx="3314700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APRENDIZADO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83615" y="9440220"/>
            <a:ext cx="3169920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CRIATIVIDADE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22628" y="5124987"/>
            <a:ext cx="2743200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RESOLUÇÃO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29666" y="4274503"/>
            <a:ext cx="58720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MELHOR 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080003">
            <a:off x="7485149" y="2663485"/>
            <a:ext cx="1369595" cy="1915517"/>
          </a:xfrm>
          <a:custGeom>
            <a:avLst/>
            <a:gdLst/>
            <a:ahLst/>
            <a:cxnLst/>
            <a:rect r="r" b="b" t="t" l="l"/>
            <a:pathLst>
              <a:path h="1915517" w="1369595">
                <a:moveTo>
                  <a:pt x="0" y="0"/>
                </a:moveTo>
                <a:lnTo>
                  <a:pt x="1369595" y="0"/>
                </a:lnTo>
                <a:lnTo>
                  <a:pt x="1369595" y="1915517"/>
                </a:lnTo>
                <a:lnTo>
                  <a:pt x="0" y="19155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24117">
            <a:off x="11347409" y="4763570"/>
            <a:ext cx="1873319" cy="1873319"/>
          </a:xfrm>
          <a:custGeom>
            <a:avLst/>
            <a:gdLst/>
            <a:ahLst/>
            <a:cxnLst/>
            <a:rect r="r" b="b" t="t" l="l"/>
            <a:pathLst>
              <a:path h="1873319" w="1873319">
                <a:moveTo>
                  <a:pt x="0" y="0"/>
                </a:moveTo>
                <a:lnTo>
                  <a:pt x="1873319" y="0"/>
                </a:lnTo>
                <a:lnTo>
                  <a:pt x="1873319" y="1873319"/>
                </a:lnTo>
                <a:lnTo>
                  <a:pt x="0" y="1873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50912">
            <a:off x="7841511" y="5800937"/>
            <a:ext cx="1648254" cy="1648254"/>
          </a:xfrm>
          <a:custGeom>
            <a:avLst/>
            <a:gdLst/>
            <a:ahLst/>
            <a:cxnLst/>
            <a:rect r="r" b="b" t="t" l="l"/>
            <a:pathLst>
              <a:path h="1648254" w="1648254">
                <a:moveTo>
                  <a:pt x="0" y="0"/>
                </a:moveTo>
                <a:lnTo>
                  <a:pt x="1648253" y="0"/>
                </a:lnTo>
                <a:lnTo>
                  <a:pt x="1648253" y="1648254"/>
                </a:lnTo>
                <a:lnTo>
                  <a:pt x="0" y="164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87200">
            <a:off x="4977572" y="5397636"/>
            <a:ext cx="1848287" cy="1848287"/>
          </a:xfrm>
          <a:custGeom>
            <a:avLst/>
            <a:gdLst/>
            <a:ahLst/>
            <a:cxnLst/>
            <a:rect r="r" b="b" t="t" l="l"/>
            <a:pathLst>
              <a:path h="1848287" w="1848287">
                <a:moveTo>
                  <a:pt x="0" y="0"/>
                </a:moveTo>
                <a:lnTo>
                  <a:pt x="1848287" y="0"/>
                </a:lnTo>
                <a:lnTo>
                  <a:pt x="1848287" y="1848287"/>
                </a:lnTo>
                <a:lnTo>
                  <a:pt x="0" y="18482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71243">
            <a:off x="9332564" y="2303857"/>
            <a:ext cx="2201751" cy="2201751"/>
          </a:xfrm>
          <a:custGeom>
            <a:avLst/>
            <a:gdLst/>
            <a:ahLst/>
            <a:cxnLst/>
            <a:rect r="r" b="b" t="t" l="l"/>
            <a:pathLst>
              <a:path h="2201751" w="2201751">
                <a:moveTo>
                  <a:pt x="0" y="0"/>
                </a:moveTo>
                <a:lnTo>
                  <a:pt x="2201751" y="0"/>
                </a:lnTo>
                <a:lnTo>
                  <a:pt x="2201751" y="2201750"/>
                </a:lnTo>
                <a:lnTo>
                  <a:pt x="0" y="2201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93318" y="6864295"/>
            <a:ext cx="558150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7ED9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Velocidade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5706" y="6330633"/>
            <a:ext cx="432345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volume?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55288" y="1230684"/>
            <a:ext cx="62746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qualidade 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14038" y="4061410"/>
            <a:ext cx="539025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segurança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1849433"/>
            <a:ext cx="842222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Melhor tomada de decisão </a:t>
            </a:r>
            <a:r>
              <a:rPr lang="en-US" b="true" sz="4500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44930" y="8694420"/>
            <a:ext cx="8259366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solver problemas mais rapidamente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4654" y="2975036"/>
            <a:ext cx="3345805" cy="59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645" indent="-378322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47502" y="2289229"/>
            <a:ext cx="3144589" cy="59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645" indent="-378322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Arquitetura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1786" y="3638494"/>
            <a:ext cx="3279874" cy="59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645" indent="-378322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Menos bugs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3318" y="7899345"/>
            <a:ext cx="252963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Eficiência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25130" y="3769678"/>
            <a:ext cx="647153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scolher banco de dados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25130" y="4635818"/>
            <a:ext cx="45474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Definir prioridades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2903538"/>
            <a:ext cx="71281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Decidir o que </a:t>
            </a: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não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01786" y="4987758"/>
            <a:ext cx="46662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Confiabilidade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01786" y="5633554"/>
            <a:ext cx="46662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Atenção a detalhes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5706" y="8122208"/>
            <a:ext cx="5109865" cy="59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645" indent="-378322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Escrever mais código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700" y="7281808"/>
            <a:ext cx="70924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ntregar mais funcionalidades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01786" y="6255105"/>
            <a:ext cx="46662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Pensamento critico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8053" y="9004740"/>
            <a:ext cx="51683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erminar mais tarefas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88979" y="412365"/>
            <a:ext cx="1232671" cy="1232671"/>
          </a:xfrm>
          <a:custGeom>
            <a:avLst/>
            <a:gdLst/>
            <a:ahLst/>
            <a:cxnLst/>
            <a:rect r="r" b="b" t="t" l="l"/>
            <a:pathLst>
              <a:path h="1232671" w="1232671">
                <a:moveTo>
                  <a:pt x="0" y="0"/>
                </a:moveTo>
                <a:lnTo>
                  <a:pt x="1232671" y="0"/>
                </a:lnTo>
                <a:lnTo>
                  <a:pt x="1232671" y="1232670"/>
                </a:lnTo>
                <a:lnTo>
                  <a:pt x="0" y="1232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92686" y="2810907"/>
            <a:ext cx="13302628" cy="7713419"/>
          </a:xfrm>
          <a:custGeom>
            <a:avLst/>
            <a:gdLst/>
            <a:ahLst/>
            <a:cxnLst/>
            <a:rect r="r" b="b" t="t" l="l"/>
            <a:pathLst>
              <a:path h="7713419" w="13302628">
                <a:moveTo>
                  <a:pt x="0" y="0"/>
                </a:moveTo>
                <a:lnTo>
                  <a:pt x="13302628" y="0"/>
                </a:lnTo>
                <a:lnTo>
                  <a:pt x="13302628" y="7713419"/>
                </a:lnTo>
                <a:lnTo>
                  <a:pt x="0" y="7713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" r="0" b="-6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937405"/>
            <a:ext cx="18288000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 dos experimentos mais claros foi feito pelo GitHub com 95 desenvolvedores profissionais. Eles receberam a mesma tarefa: Criar um servidor HTTP em JavaScript.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2686" y="348621"/>
            <a:ext cx="12336781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CENÁRIO 1 - VELOCIDADE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2068" y="457206"/>
            <a:ext cx="857610" cy="1280015"/>
          </a:xfrm>
          <a:custGeom>
            <a:avLst/>
            <a:gdLst/>
            <a:ahLst/>
            <a:cxnLst/>
            <a:rect r="r" b="b" t="t" l="l"/>
            <a:pathLst>
              <a:path h="1280015" w="857610">
                <a:moveTo>
                  <a:pt x="0" y="0"/>
                </a:moveTo>
                <a:lnTo>
                  <a:pt x="857610" y="0"/>
                </a:lnTo>
                <a:lnTo>
                  <a:pt x="857610" y="1280015"/>
                </a:lnTo>
                <a:lnTo>
                  <a:pt x="0" y="12800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5506020" y="5571326"/>
            <a:ext cx="4003769" cy="620584"/>
          </a:xfrm>
          <a:custGeom>
            <a:avLst/>
            <a:gdLst/>
            <a:ahLst/>
            <a:cxnLst/>
            <a:rect r="r" b="b" t="t" l="l"/>
            <a:pathLst>
              <a:path h="620584" w="4003769">
                <a:moveTo>
                  <a:pt x="0" y="0"/>
                </a:moveTo>
                <a:lnTo>
                  <a:pt x="4003768" y="0"/>
                </a:lnTo>
                <a:lnTo>
                  <a:pt x="4003768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01214" y="3463387"/>
            <a:ext cx="2095940" cy="2095940"/>
          </a:xfrm>
          <a:custGeom>
            <a:avLst/>
            <a:gdLst/>
            <a:ahLst/>
            <a:cxnLst/>
            <a:rect r="r" b="b" t="t" l="l"/>
            <a:pathLst>
              <a:path h="2095940" w="2095940">
                <a:moveTo>
                  <a:pt x="0" y="0"/>
                </a:moveTo>
                <a:lnTo>
                  <a:pt x="2095941" y="0"/>
                </a:lnTo>
                <a:lnTo>
                  <a:pt x="2095941" y="2095940"/>
                </a:lnTo>
                <a:lnTo>
                  <a:pt x="0" y="2095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08077" y="3277311"/>
            <a:ext cx="2282017" cy="2282017"/>
          </a:xfrm>
          <a:custGeom>
            <a:avLst/>
            <a:gdLst/>
            <a:ahLst/>
            <a:cxnLst/>
            <a:rect r="r" b="b" t="t" l="l"/>
            <a:pathLst>
              <a:path h="2282017" w="2282017">
                <a:moveTo>
                  <a:pt x="0" y="0"/>
                </a:moveTo>
                <a:lnTo>
                  <a:pt x="2282017" y="0"/>
                </a:lnTo>
                <a:lnTo>
                  <a:pt x="2282017" y="2282016"/>
                </a:lnTo>
                <a:lnTo>
                  <a:pt x="0" y="22820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5146" y="2066387"/>
            <a:ext cx="1619770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IA + Segurança: Ajuda, mas não substitui o humano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8723" y="5659623"/>
            <a:ext cx="7916919" cy="222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949" indent="-34497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ENCONTRAR PADROES SUSPEITOS</a:t>
            </a:r>
          </a:p>
          <a:p>
            <a:pPr algn="l" marL="689949" indent="-34497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CRIAR TESTES</a:t>
            </a:r>
          </a:p>
          <a:p>
            <a:pPr algn="l" marL="689949" indent="-34497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ANALISAR DOCUMENTAÇÃO</a:t>
            </a:r>
          </a:p>
          <a:p>
            <a:pPr algn="l" marL="689949" indent="-344975" lvl="1">
              <a:lnSpc>
                <a:spcPts val="4473"/>
              </a:lnSpc>
              <a:buFont typeface="Arial"/>
              <a:buChar char="•"/>
            </a:pPr>
            <a:r>
              <a:rPr lang="en-US" b="true" sz="31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SUGERIR MELHORIAS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75764" y="5814943"/>
            <a:ext cx="10712236" cy="172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ENTENDER O CONTEXTO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AVALIAR SE A CORREÇÃO FAZ SENTIDO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VALIDAR ANTES DE COLOCAR EM PRODUÇÃO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34150" y="8321653"/>
            <a:ext cx="18288000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mesma tecnologia que pode ajudar a encontrar uma vulnerabilidade também pode produzir uma vulnerabilidade.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9870" y="373319"/>
            <a:ext cx="12748260" cy="129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CENÁRIO 2 - SEGURANÇA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63603" y="399176"/>
            <a:ext cx="1233867" cy="1259048"/>
          </a:xfrm>
          <a:custGeom>
            <a:avLst/>
            <a:gdLst/>
            <a:ahLst/>
            <a:cxnLst/>
            <a:rect r="r" b="b" t="t" l="l"/>
            <a:pathLst>
              <a:path h="1259048" w="1233867">
                <a:moveTo>
                  <a:pt x="0" y="0"/>
                </a:moveTo>
                <a:lnTo>
                  <a:pt x="1233868" y="0"/>
                </a:lnTo>
                <a:lnTo>
                  <a:pt x="1233868" y="1259048"/>
                </a:lnTo>
                <a:lnTo>
                  <a:pt x="0" y="1259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4522" y="3891253"/>
            <a:ext cx="5154364" cy="300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Opção A</a:t>
            </a:r>
          </a:p>
          <a:p>
            <a:pPr algn="ctr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b="true" sz="3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barata</a:t>
            </a:r>
          </a:p>
          <a:p>
            <a:pPr algn="ctr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b="true" sz="3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rápida</a:t>
            </a:r>
          </a:p>
          <a:p>
            <a:pPr algn="ctr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b="true" sz="3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menor segurança</a:t>
            </a:r>
          </a:p>
          <a:p>
            <a:pPr algn="ctr">
              <a:lnSpc>
                <a:spcPts val="209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097275" y="3891253"/>
            <a:ext cx="5037386" cy="275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394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Opção B</a:t>
            </a:r>
          </a:p>
          <a:p>
            <a:pPr algn="ctr" marL="851190" indent="-425595" lvl="1">
              <a:lnSpc>
                <a:spcPts val="5519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cara</a:t>
            </a:r>
          </a:p>
          <a:p>
            <a:pPr algn="ctr" marL="851190" indent="-425595" lvl="1">
              <a:lnSpc>
                <a:spcPts val="5519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mais demorada</a:t>
            </a:r>
          </a:p>
          <a:p>
            <a:pPr algn="ctr" marL="850645" indent="-425323" lvl="1">
              <a:lnSpc>
                <a:spcPts val="5515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maior segurança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34522" y="3799746"/>
            <a:ext cx="5345414" cy="3016606"/>
            <a:chOff x="0" y="0"/>
            <a:chExt cx="1303370" cy="7355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3370" cy="735538"/>
            </a:xfrm>
            <a:custGeom>
              <a:avLst/>
              <a:gdLst/>
              <a:ahLst/>
              <a:cxnLst/>
              <a:rect r="r" b="b" t="t" l="l"/>
              <a:pathLst>
                <a:path h="735538" w="1303370">
                  <a:moveTo>
                    <a:pt x="36208" y="0"/>
                  </a:moveTo>
                  <a:lnTo>
                    <a:pt x="1267162" y="0"/>
                  </a:lnTo>
                  <a:cubicBezTo>
                    <a:pt x="1287160" y="0"/>
                    <a:pt x="1303370" y="16211"/>
                    <a:pt x="1303370" y="36208"/>
                  </a:cubicBezTo>
                  <a:lnTo>
                    <a:pt x="1303370" y="699330"/>
                  </a:lnTo>
                  <a:cubicBezTo>
                    <a:pt x="1303370" y="708933"/>
                    <a:pt x="1299556" y="718143"/>
                    <a:pt x="1292765" y="724933"/>
                  </a:cubicBezTo>
                  <a:cubicBezTo>
                    <a:pt x="1285975" y="731723"/>
                    <a:pt x="1276765" y="735538"/>
                    <a:pt x="1267162" y="735538"/>
                  </a:cubicBezTo>
                  <a:lnTo>
                    <a:pt x="36208" y="735538"/>
                  </a:lnTo>
                  <a:cubicBezTo>
                    <a:pt x="26605" y="735538"/>
                    <a:pt x="17396" y="731723"/>
                    <a:pt x="10605" y="724933"/>
                  </a:cubicBezTo>
                  <a:cubicBezTo>
                    <a:pt x="3815" y="718143"/>
                    <a:pt x="0" y="708933"/>
                    <a:pt x="0" y="699330"/>
                  </a:cubicBezTo>
                  <a:lnTo>
                    <a:pt x="0" y="36208"/>
                  </a:lnTo>
                  <a:cubicBezTo>
                    <a:pt x="0" y="26605"/>
                    <a:pt x="3815" y="17396"/>
                    <a:pt x="10605" y="10605"/>
                  </a:cubicBezTo>
                  <a:cubicBezTo>
                    <a:pt x="17396" y="3815"/>
                    <a:pt x="26605" y="0"/>
                    <a:pt x="36208" y="0"/>
                  </a:cubicBezTo>
                  <a:close/>
                </a:path>
              </a:pathLst>
            </a:custGeom>
            <a:solidFill>
              <a:srgbClr val="5170FF">
                <a:alpha val="1569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03370" cy="792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024620" y="6225185"/>
            <a:ext cx="2238760" cy="2238760"/>
          </a:xfrm>
          <a:custGeom>
            <a:avLst/>
            <a:gdLst/>
            <a:ahLst/>
            <a:cxnLst/>
            <a:rect r="r" b="b" t="t" l="l"/>
            <a:pathLst>
              <a:path h="2238760" w="2238760">
                <a:moveTo>
                  <a:pt x="0" y="0"/>
                </a:moveTo>
                <a:lnTo>
                  <a:pt x="2238760" y="0"/>
                </a:lnTo>
                <a:lnTo>
                  <a:pt x="2238760" y="2238760"/>
                </a:lnTo>
                <a:lnTo>
                  <a:pt x="0" y="223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1989987"/>
            <a:ext cx="1828800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IA pode sugerir uma decisão. Mas quem define o que deve ser considerado uma boa decisão ainda é o ser humano.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8309" y="8581390"/>
            <a:ext cx="16651381" cy="128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b="true" sz="3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 UMA DECISÃO BA</a:t>
            </a:r>
            <a:r>
              <a:rPr lang="en-US" b="true" sz="3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SEADA EM VALORES, PRIORIDADES E RESPONSABILIDADE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99114" y="3841212"/>
            <a:ext cx="5564489" cy="3184313"/>
            <a:chOff x="0" y="0"/>
            <a:chExt cx="1356787" cy="776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6787" cy="776430"/>
            </a:xfrm>
            <a:custGeom>
              <a:avLst/>
              <a:gdLst/>
              <a:ahLst/>
              <a:cxnLst/>
              <a:rect r="r" b="b" t="t" l="l"/>
              <a:pathLst>
                <a:path h="776430" w="1356787">
                  <a:moveTo>
                    <a:pt x="34783" y="0"/>
                  </a:moveTo>
                  <a:lnTo>
                    <a:pt x="1322005" y="0"/>
                  </a:lnTo>
                  <a:cubicBezTo>
                    <a:pt x="1331230" y="0"/>
                    <a:pt x="1340077" y="3665"/>
                    <a:pt x="1346600" y="10188"/>
                  </a:cubicBezTo>
                  <a:cubicBezTo>
                    <a:pt x="1353123" y="16711"/>
                    <a:pt x="1356787" y="25558"/>
                    <a:pt x="1356787" y="34783"/>
                  </a:cubicBezTo>
                  <a:lnTo>
                    <a:pt x="1356787" y="741647"/>
                  </a:lnTo>
                  <a:cubicBezTo>
                    <a:pt x="1356787" y="760857"/>
                    <a:pt x="1341215" y="776430"/>
                    <a:pt x="1322005" y="776430"/>
                  </a:cubicBezTo>
                  <a:lnTo>
                    <a:pt x="34783" y="776430"/>
                  </a:lnTo>
                  <a:cubicBezTo>
                    <a:pt x="25558" y="776430"/>
                    <a:pt x="16711" y="772765"/>
                    <a:pt x="10188" y="766242"/>
                  </a:cubicBezTo>
                  <a:cubicBezTo>
                    <a:pt x="3665" y="759719"/>
                    <a:pt x="0" y="750872"/>
                    <a:pt x="0" y="741647"/>
                  </a:cubicBezTo>
                  <a:lnTo>
                    <a:pt x="0" y="34783"/>
                  </a:lnTo>
                  <a:cubicBezTo>
                    <a:pt x="0" y="25558"/>
                    <a:pt x="3665" y="16711"/>
                    <a:pt x="10188" y="10188"/>
                  </a:cubicBezTo>
                  <a:cubicBezTo>
                    <a:pt x="16711" y="3665"/>
                    <a:pt x="25558" y="0"/>
                    <a:pt x="34783" y="0"/>
                  </a:cubicBezTo>
                  <a:close/>
                </a:path>
              </a:pathLst>
            </a:custGeom>
            <a:solidFill>
              <a:srgbClr val="5170FF">
                <a:alpha val="1569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56787" cy="833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0321" y="385133"/>
            <a:ext cx="15674340" cy="115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CENÁRIO 3 - TOMADA DE DECISÃO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41422" y="7317575"/>
            <a:ext cx="7014680" cy="3945758"/>
          </a:xfrm>
          <a:custGeom>
            <a:avLst/>
            <a:gdLst/>
            <a:ahLst/>
            <a:cxnLst/>
            <a:rect r="r" b="b" t="t" l="l"/>
            <a:pathLst>
              <a:path h="3945758" w="7014680">
                <a:moveTo>
                  <a:pt x="0" y="0"/>
                </a:moveTo>
                <a:lnTo>
                  <a:pt x="7014681" y="0"/>
                </a:lnTo>
                <a:lnTo>
                  <a:pt x="7014681" y="3945758"/>
                </a:lnTo>
                <a:lnTo>
                  <a:pt x="0" y="394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25" y="3195155"/>
            <a:ext cx="18278475" cy="299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56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 “melhor” não é uma afirmação que deve ser baseada em uma única caracteristica e sim na evolução equilibrada de diferentes áreas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141605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6278" y="895350"/>
            <a:ext cx="9265920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RESPOSTA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33097" y="7677620"/>
            <a:ext cx="227076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SEGURANÇA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6879" y="7260425"/>
            <a:ext cx="238506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VELOCIDADE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41422" y="7260425"/>
            <a:ext cx="217932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QUALIDADE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4459" y="8096402"/>
            <a:ext cx="30099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CONHECIMENTO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06389" y="7688732"/>
            <a:ext cx="260604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CRIATIVIDADE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08307" y="8096402"/>
            <a:ext cx="272034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APRENDIZADO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34669" y="1935303"/>
            <a:ext cx="13018661" cy="7322997"/>
          </a:xfrm>
          <a:custGeom>
            <a:avLst/>
            <a:gdLst/>
            <a:ahLst/>
            <a:cxnLst/>
            <a:rect r="r" b="b" t="t" l="l"/>
            <a:pathLst>
              <a:path h="7322997" w="13018661">
                <a:moveTo>
                  <a:pt x="0" y="0"/>
                </a:moveTo>
                <a:lnTo>
                  <a:pt x="13018662" y="0"/>
                </a:lnTo>
                <a:lnTo>
                  <a:pt x="13018662" y="7322997"/>
                </a:lnTo>
                <a:lnTo>
                  <a:pt x="0" y="7322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8210" y="373386"/>
            <a:ext cx="16451581" cy="117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ESTUDOS SOBRE PRODUTIVIDADE 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1046" y="385849"/>
            <a:ext cx="10693832" cy="49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b="true" sz="3392" spc="-101">
                <a:solidFill>
                  <a:srgbClr val="0B0B0B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SPOTIFY: DA AUTOMAÇÃO AOS AGENTES DE 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76625" y="1066800"/>
            <a:ext cx="4800600" cy="1076325"/>
          </a:xfrm>
          <a:custGeom>
            <a:avLst/>
            <a:gdLst/>
            <a:ahLst/>
            <a:cxnLst/>
            <a:rect r="r" b="b" t="t" l="l"/>
            <a:pathLst>
              <a:path h="1076325" w="4800600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76625" y="1924050"/>
            <a:ext cx="4800600" cy="4933950"/>
          </a:xfrm>
          <a:custGeom>
            <a:avLst/>
            <a:gdLst/>
            <a:ahLst/>
            <a:cxnLst/>
            <a:rect r="r" b="b" t="t" l="l"/>
            <a:pathLst>
              <a:path h="4933950" w="4800600">
                <a:moveTo>
                  <a:pt x="0" y="0"/>
                </a:moveTo>
                <a:lnTo>
                  <a:pt x="4800600" y="0"/>
                </a:lnTo>
                <a:lnTo>
                  <a:pt x="48006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10294" y="128587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59680" y="2542521"/>
            <a:ext cx="2752634" cy="80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 spc="-76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Fleet Management</a:t>
            </a:r>
          </a:p>
          <a:p>
            <a:pPr algn="ctr">
              <a:lnSpc>
                <a:spcPts val="3347"/>
              </a:lnSpc>
            </a:pPr>
            <a:r>
              <a:rPr lang="en-US" b="true" sz="2575" spc="-76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(FleetShift)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7070" y="3437036"/>
            <a:ext cx="3026589" cy="62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b="true" sz="3967" spc="-118">
                <a:solidFill>
                  <a:srgbClr val="225CE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+2,5 milhões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91306" y="4169966"/>
            <a:ext cx="3889382" cy="63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de Pull Requests de manutenção automatizados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99578" y="5170167"/>
            <a:ext cx="3941572" cy="67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162" spc="-64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A maioria com auto merge, sem intervenção humana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08921" y="362171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91700" y="1066800"/>
            <a:ext cx="5019675" cy="1076325"/>
          </a:xfrm>
          <a:custGeom>
            <a:avLst/>
            <a:gdLst/>
            <a:ahLst/>
            <a:cxnLst/>
            <a:rect r="r" b="b" t="t" l="l"/>
            <a:pathLst>
              <a:path h="1076325" w="501967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91700" y="1924050"/>
            <a:ext cx="5019675" cy="4933950"/>
          </a:xfrm>
          <a:custGeom>
            <a:avLst/>
            <a:gdLst/>
            <a:ahLst/>
            <a:cxnLst/>
            <a:rect r="r" b="b" t="t" l="l"/>
            <a:pathLst>
              <a:path h="4933950" w="5019675">
                <a:moveTo>
                  <a:pt x="0" y="0"/>
                </a:moveTo>
                <a:lnTo>
                  <a:pt x="5019675" y="0"/>
                </a:lnTo>
                <a:lnTo>
                  <a:pt x="50196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50249" y="1285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599836" y="1352603"/>
            <a:ext cx="3929361" cy="60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-59">
                <a:solidFill>
                  <a:srgbClr val="0B0B0B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LIMITES DA AUTOMAÇÃO TRADICIONAL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010775" y="2143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204735" y="2186535"/>
            <a:ext cx="2662414" cy="67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Funcionava bem para</a:t>
            </a:r>
          </a:p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mudanças previsíveis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50617" y="3024733"/>
            <a:ext cx="3638336" cy="9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385" indent="-219693" lvl="1">
              <a:lnSpc>
                <a:spcPts val="2646"/>
              </a:lnSpc>
              <a:buFont typeface="Arial"/>
              <a:buChar char="•"/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Dependências</a:t>
            </a:r>
          </a:p>
          <a:p>
            <a:pPr algn="l" marL="439385" indent="-219693" lvl="1">
              <a:lnSpc>
                <a:spcPts val="2646"/>
              </a:lnSpc>
              <a:buFont typeface="Arial"/>
              <a:buChar char="•"/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Configurações</a:t>
            </a:r>
          </a:p>
          <a:p>
            <a:pPr algn="l" marL="439385" indent="-219693" lvl="1">
              <a:lnSpc>
                <a:spcPts val="2646"/>
              </a:lnSpc>
              <a:buFont typeface="Arial"/>
              <a:buChar char="•"/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Atualizações padronizadas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29850" y="42862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40101" y="4281105"/>
            <a:ext cx="2791681" cy="67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Mudanças complexas</a:t>
            </a:r>
          </a:p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ainda eram um desafio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5326" y="5074097"/>
            <a:ext cx="4415040" cy="127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385" indent="-219693" lvl="1">
              <a:lnSpc>
                <a:spcPts val="2646"/>
              </a:lnSpc>
              <a:buFont typeface="Arial"/>
              <a:buChar char="•"/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Substituição de chamadas de API</a:t>
            </a:r>
          </a:p>
          <a:p>
            <a:pPr algn="l" marL="439385" indent="-219693" lvl="1">
              <a:lnSpc>
                <a:spcPts val="2646"/>
              </a:lnSpc>
              <a:buFont typeface="Arial"/>
              <a:buChar char="•"/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Refatorações</a:t>
            </a:r>
          </a:p>
          <a:p>
            <a:pPr algn="l" marL="439385" indent="-219693" lvl="1">
              <a:lnSpc>
                <a:spcPts val="2646"/>
              </a:lnSpc>
              <a:buFont typeface="Arial"/>
              <a:buChar char="•"/>
            </a:pPr>
            <a:r>
              <a:rPr lang="en-US" sz="2036" spc="-60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Casos que exigiam scripts maiores e mudanças mais complexas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971800" y="6791365"/>
            <a:ext cx="11982450" cy="1076325"/>
          </a:xfrm>
          <a:custGeom>
            <a:avLst/>
            <a:gdLst/>
            <a:ahLst/>
            <a:cxnLst/>
            <a:rect r="r" b="b" t="t" l="l"/>
            <a:pathLst>
              <a:path h="1076325" w="11982450">
                <a:moveTo>
                  <a:pt x="0" y="0"/>
                </a:moveTo>
                <a:lnTo>
                  <a:pt x="11982450" y="0"/>
                </a:lnTo>
                <a:lnTo>
                  <a:pt x="11982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971800" y="7648615"/>
            <a:ext cx="11982450" cy="2143125"/>
          </a:xfrm>
          <a:custGeom>
            <a:avLst/>
            <a:gdLst/>
            <a:ahLst/>
            <a:cxnLst/>
            <a:rect r="r" b="b" t="t" l="l"/>
            <a:pathLst>
              <a:path h="2143125" w="11982450">
                <a:moveTo>
                  <a:pt x="0" y="0"/>
                </a:moveTo>
                <a:lnTo>
                  <a:pt x="11982450" y="0"/>
                </a:lnTo>
                <a:lnTo>
                  <a:pt x="11982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181350" y="700091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933614" y="7256825"/>
            <a:ext cx="2418462" cy="3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-59">
                <a:solidFill>
                  <a:srgbClr val="0B0B0B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AGENTES DE IA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308383" y="791399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159399" y="8497539"/>
            <a:ext cx="1149444" cy="3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Fleetshift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15106" y="8893268"/>
            <a:ext cx="1838030" cy="79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Identifica alvos,</a:t>
            </a:r>
          </a:p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agenda mudanças</a:t>
            </a:r>
          </a:p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e acompanha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632358" y="880934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137308" y="790447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637138" y="8497539"/>
            <a:ext cx="1817527" cy="3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Honk + Claude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53454" y="8893268"/>
            <a:ext cx="2079882" cy="52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Realizam as</a:t>
            </a:r>
          </a:p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alterações no código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461540" y="9404189"/>
            <a:ext cx="2071796" cy="368501"/>
          </a:xfrm>
          <a:custGeom>
            <a:avLst/>
            <a:gdLst/>
            <a:ahLst/>
            <a:cxnLst/>
            <a:rect r="r" b="b" t="t" l="l"/>
            <a:pathLst>
              <a:path h="368501" w="2071796">
                <a:moveTo>
                  <a:pt x="0" y="0"/>
                </a:moveTo>
                <a:lnTo>
                  <a:pt x="2071795" y="0"/>
                </a:lnTo>
                <a:lnTo>
                  <a:pt x="2071795" y="368501"/>
                </a:lnTo>
                <a:lnTo>
                  <a:pt x="0" y="3685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680358" y="880934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994808" y="773302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9603187" y="8893268"/>
            <a:ext cx="1513274" cy="52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Builds, testes e</a:t>
            </a:r>
          </a:p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validação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1290208" y="880934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814208" y="772349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453811" y="8467402"/>
            <a:ext cx="1541672" cy="3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Pull Request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17902" y="8893268"/>
            <a:ext cx="2013489" cy="52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Alterações enviadas</a:t>
            </a:r>
          </a:p>
          <a:p>
            <a:pPr algn="ctr">
              <a:lnSpc>
                <a:spcPts val="2239"/>
              </a:lnSpc>
            </a:pPr>
            <a:r>
              <a:rPr lang="en-US" sz="1722" spc="-51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para revisão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66775" y="9791740"/>
            <a:ext cx="16554450" cy="219075"/>
          </a:xfrm>
          <a:custGeom>
            <a:avLst/>
            <a:gdLst/>
            <a:ahLst/>
            <a:cxnLst/>
            <a:rect r="r" b="b" t="t" l="l"/>
            <a:pathLst>
              <a:path h="219075" w="16554450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49015" y="10041354"/>
            <a:ext cx="6896901" cy="17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spc="177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Fonte: Spotify Engineering – Coding is No Longer the Constraint (2026).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42041" y="1480465"/>
            <a:ext cx="3632450" cy="3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59">
                <a:solidFill>
                  <a:srgbClr val="0B0B0B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AUTOMAÇÃO TRADICIONAL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32099" y="8467402"/>
            <a:ext cx="255451" cy="3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162" spc="-64">
                <a:solidFill>
                  <a:srgbClr val="0B0B0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532205" y="7190459"/>
            <a:ext cx="203166" cy="39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b="true" sz="2471" spc="-73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78862" y="1438639"/>
            <a:ext cx="203166" cy="39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b="true" sz="2471" spc="-73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815450" y="1432994"/>
            <a:ext cx="138045" cy="39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b="true" sz="2471" spc="-73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3201953">
            <a:off x="8125730" y="6328094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7263451">
            <a:off x="9203137" y="6340664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19848">
            <a:off x="10850866" y="2928240"/>
            <a:ext cx="1148357" cy="785058"/>
          </a:xfrm>
          <a:custGeom>
            <a:avLst/>
            <a:gdLst/>
            <a:ahLst/>
            <a:cxnLst/>
            <a:rect r="r" b="b" t="t" l="l"/>
            <a:pathLst>
              <a:path h="785058" w="1148357">
                <a:moveTo>
                  <a:pt x="0" y="0"/>
                </a:moveTo>
                <a:lnTo>
                  <a:pt x="1148356" y="0"/>
                </a:lnTo>
                <a:lnTo>
                  <a:pt x="1148356" y="785059"/>
                </a:lnTo>
                <a:lnTo>
                  <a:pt x="0" y="7850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3423784">
            <a:off x="5278876" y="5406540"/>
            <a:ext cx="1180539" cy="807059"/>
          </a:xfrm>
          <a:custGeom>
            <a:avLst/>
            <a:gdLst/>
            <a:ahLst/>
            <a:cxnLst/>
            <a:rect r="r" b="b" t="t" l="l"/>
            <a:pathLst>
              <a:path h="807059" w="1180539">
                <a:moveTo>
                  <a:pt x="0" y="807059"/>
                </a:moveTo>
                <a:lnTo>
                  <a:pt x="1180539" y="807059"/>
                </a:lnTo>
                <a:lnTo>
                  <a:pt x="1180539" y="0"/>
                </a:lnTo>
                <a:lnTo>
                  <a:pt x="0" y="0"/>
                </a:lnTo>
                <a:lnTo>
                  <a:pt x="0" y="80705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933648">
            <a:off x="11415448" y="5102604"/>
            <a:ext cx="1122528" cy="767401"/>
          </a:xfrm>
          <a:custGeom>
            <a:avLst/>
            <a:gdLst/>
            <a:ahLst/>
            <a:cxnLst/>
            <a:rect r="r" b="b" t="t" l="l"/>
            <a:pathLst>
              <a:path h="767401" w="1122528">
                <a:moveTo>
                  <a:pt x="0" y="0"/>
                </a:moveTo>
                <a:lnTo>
                  <a:pt x="1122528" y="0"/>
                </a:lnTo>
                <a:lnTo>
                  <a:pt x="1122528" y="767401"/>
                </a:lnTo>
                <a:lnTo>
                  <a:pt x="0" y="76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293199">
            <a:off x="8958413" y="5994410"/>
            <a:ext cx="1045630" cy="714831"/>
          </a:xfrm>
          <a:custGeom>
            <a:avLst/>
            <a:gdLst/>
            <a:ahLst/>
            <a:cxnLst/>
            <a:rect r="r" b="b" t="t" l="l"/>
            <a:pathLst>
              <a:path h="714831" w="1045630">
                <a:moveTo>
                  <a:pt x="0" y="0"/>
                </a:moveTo>
                <a:lnTo>
                  <a:pt x="1045631" y="0"/>
                </a:lnTo>
                <a:lnTo>
                  <a:pt x="1045631" y="714831"/>
                </a:lnTo>
                <a:lnTo>
                  <a:pt x="0" y="714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370436">
            <a:off x="6003735" y="3060528"/>
            <a:ext cx="1124849" cy="768988"/>
          </a:xfrm>
          <a:custGeom>
            <a:avLst/>
            <a:gdLst/>
            <a:ahLst/>
            <a:cxnLst/>
            <a:rect r="r" b="b" t="t" l="l"/>
            <a:pathLst>
              <a:path h="768988" w="1124849">
                <a:moveTo>
                  <a:pt x="0" y="768988"/>
                </a:moveTo>
                <a:lnTo>
                  <a:pt x="1124848" y="768988"/>
                </a:lnTo>
                <a:lnTo>
                  <a:pt x="1124848" y="0"/>
                </a:lnTo>
                <a:lnTo>
                  <a:pt x="0" y="0"/>
                </a:lnTo>
                <a:lnTo>
                  <a:pt x="0" y="76898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37015" y="3665133"/>
            <a:ext cx="4476971" cy="1857943"/>
          </a:xfrm>
          <a:custGeom>
            <a:avLst/>
            <a:gdLst/>
            <a:ahLst/>
            <a:cxnLst/>
            <a:rect r="r" b="b" t="t" l="l"/>
            <a:pathLst>
              <a:path h="1857943" w="4476971">
                <a:moveTo>
                  <a:pt x="0" y="0"/>
                </a:moveTo>
                <a:lnTo>
                  <a:pt x="4476970" y="0"/>
                </a:lnTo>
                <a:lnTo>
                  <a:pt x="4476970" y="1857943"/>
                </a:lnTo>
                <a:lnTo>
                  <a:pt x="0" y="18579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9740" y="363727"/>
            <a:ext cx="11095237" cy="49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0"/>
              </a:lnSpc>
              <a:spcBef>
                <a:spcPct val="0"/>
              </a:spcBef>
            </a:pPr>
            <a:r>
              <a:rPr lang="en-US" sz="3620" spc="-2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IA NÃO TRABALHA SOZINHA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79550"/>
            <a:ext cx="11335778" cy="40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 infraestrutura criada para desenvolvedores também passou a apoiar os agentes de IA.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66964" y="4204988"/>
            <a:ext cx="3578324" cy="89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4"/>
              </a:lnSpc>
            </a:pPr>
            <a:r>
              <a:rPr lang="en-US" sz="619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HONK + CLAUDE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26684" y="2337265"/>
            <a:ext cx="3033615" cy="46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  <a:spcBef>
                <a:spcPct val="0"/>
              </a:spcBef>
            </a:pPr>
            <a:r>
              <a:rPr lang="en-US" b="true" sz="2612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Stack padronizada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98185" y="6092360"/>
            <a:ext cx="2222417" cy="46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  <a:spcBef>
                <a:spcPct val="0"/>
              </a:spcBef>
            </a:pPr>
            <a:r>
              <a:rPr lang="en-US" b="true" sz="2612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Backstage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13720" y="7042930"/>
            <a:ext cx="4530570" cy="46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  <a:spcBef>
                <a:spcPct val="0"/>
              </a:spcBef>
            </a:pPr>
            <a:r>
              <a:rPr lang="en-US" b="true" sz="2612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Golden State + Soundcheck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60688" y="1866645"/>
            <a:ext cx="4470147" cy="46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  <a:spcBef>
                <a:spcPct val="0"/>
              </a:spcBef>
            </a:pPr>
            <a:r>
              <a:rPr lang="en-US" b="true" sz="2612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Linting e análise estática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40507" y="5352093"/>
            <a:ext cx="458144" cy="46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  <a:spcBef>
                <a:spcPct val="0"/>
              </a:spcBef>
            </a:pPr>
            <a:r>
              <a:rPr lang="en-US" b="true" sz="2612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9235" y="6509193"/>
            <a:ext cx="2841367" cy="11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Contexto e documentação dos componentes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0593" y="5722657"/>
            <a:ext cx="2495379" cy="3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Builds e validação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06709" y="8709513"/>
            <a:ext cx="14838923" cy="765914"/>
            <a:chOff x="0" y="0"/>
            <a:chExt cx="3828664" cy="1976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28664" cy="197617"/>
            </a:xfrm>
            <a:custGeom>
              <a:avLst/>
              <a:gdLst/>
              <a:ahLst/>
              <a:cxnLst/>
              <a:rect r="r" b="b" t="t" l="l"/>
              <a:pathLst>
                <a:path h="197617" w="3828664">
                  <a:moveTo>
                    <a:pt x="13043" y="0"/>
                  </a:moveTo>
                  <a:lnTo>
                    <a:pt x="3815621" y="0"/>
                  </a:lnTo>
                  <a:cubicBezTo>
                    <a:pt x="3822825" y="0"/>
                    <a:pt x="3828664" y="5840"/>
                    <a:pt x="3828664" y="13043"/>
                  </a:cubicBezTo>
                  <a:lnTo>
                    <a:pt x="3828664" y="184574"/>
                  </a:lnTo>
                  <a:cubicBezTo>
                    <a:pt x="3828664" y="191778"/>
                    <a:pt x="3822825" y="197617"/>
                    <a:pt x="3815621" y="197617"/>
                  </a:cubicBezTo>
                  <a:lnTo>
                    <a:pt x="13043" y="197617"/>
                  </a:lnTo>
                  <a:cubicBezTo>
                    <a:pt x="9584" y="197617"/>
                    <a:pt x="6266" y="196243"/>
                    <a:pt x="3820" y="193797"/>
                  </a:cubicBezTo>
                  <a:cubicBezTo>
                    <a:pt x="1374" y="191351"/>
                    <a:pt x="0" y="188033"/>
                    <a:pt x="0" y="184574"/>
                  </a:cubicBezTo>
                  <a:lnTo>
                    <a:pt x="0" y="13043"/>
                  </a:lnTo>
                  <a:cubicBezTo>
                    <a:pt x="0" y="5840"/>
                    <a:pt x="5840" y="0"/>
                    <a:pt x="13043" y="0"/>
                  </a:cubicBezTo>
                  <a:close/>
                </a:path>
              </a:pathLst>
            </a:custGeom>
            <a:solidFill>
              <a:srgbClr val="5170FF">
                <a:alpha val="1569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828664" cy="254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255360" y="8899380"/>
            <a:ext cx="7604487" cy="41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  <a:spcBef>
                <a:spcPct val="0"/>
              </a:spcBef>
            </a:pPr>
            <a:r>
              <a:rPr lang="en-US" b="true" sz="2222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Quanto mais previsível o ambiente, mais eficaz o agente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60596" y="2799421"/>
            <a:ext cx="2841367" cy="11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tecnologias e padrões semelhantes entre os componentes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84968" y="7492696"/>
            <a:ext cx="2888178" cy="77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Práticas e padrões recomendados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52380" y="2276407"/>
            <a:ext cx="1257803" cy="3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Feedback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66775" y="9789752"/>
            <a:ext cx="16554450" cy="219075"/>
          </a:xfrm>
          <a:custGeom>
            <a:avLst/>
            <a:gdLst/>
            <a:ahLst/>
            <a:cxnLst/>
            <a:rect r="r" b="b" t="t" l="l"/>
            <a:pathLst>
              <a:path h="219075" w="16554450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49015" y="10041354"/>
            <a:ext cx="6896901" cy="17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spc="177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Fonte: Spotify Engineering – Coding is No Longer the Constraint (2026).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891207" y="1212324"/>
            <a:ext cx="0" cy="8007035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115916">
            <a:off x="12561596" y="4481926"/>
            <a:ext cx="760266" cy="228080"/>
          </a:xfrm>
          <a:custGeom>
            <a:avLst/>
            <a:gdLst/>
            <a:ahLst/>
            <a:cxnLst/>
            <a:rect r="r" b="b" t="t" l="l"/>
            <a:pathLst>
              <a:path h="228080" w="760266">
                <a:moveTo>
                  <a:pt x="0" y="0"/>
                </a:moveTo>
                <a:lnTo>
                  <a:pt x="760266" y="0"/>
                </a:lnTo>
                <a:lnTo>
                  <a:pt x="760266" y="228080"/>
                </a:lnTo>
                <a:lnTo>
                  <a:pt x="0" y="22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10307" y="5038756"/>
            <a:ext cx="3262843" cy="2681350"/>
            <a:chOff x="0" y="0"/>
            <a:chExt cx="836145" cy="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6145" cy="687130"/>
            </a:xfrm>
            <a:custGeom>
              <a:avLst/>
              <a:gdLst/>
              <a:ahLst/>
              <a:cxnLst/>
              <a:rect r="r" b="b" t="t" l="l"/>
              <a:pathLst>
                <a:path h="687130" w="836145">
                  <a:moveTo>
                    <a:pt x="59319" y="0"/>
                  </a:moveTo>
                  <a:lnTo>
                    <a:pt x="776826" y="0"/>
                  </a:lnTo>
                  <a:cubicBezTo>
                    <a:pt x="809587" y="0"/>
                    <a:pt x="836145" y="26558"/>
                    <a:pt x="836145" y="59319"/>
                  </a:cubicBezTo>
                  <a:lnTo>
                    <a:pt x="836145" y="627811"/>
                  </a:lnTo>
                  <a:cubicBezTo>
                    <a:pt x="836145" y="660572"/>
                    <a:pt x="809587" y="687130"/>
                    <a:pt x="776826" y="687130"/>
                  </a:cubicBezTo>
                  <a:lnTo>
                    <a:pt x="59319" y="687130"/>
                  </a:lnTo>
                  <a:cubicBezTo>
                    <a:pt x="26558" y="687130"/>
                    <a:pt x="0" y="660572"/>
                    <a:pt x="0" y="627811"/>
                  </a:cubicBezTo>
                  <a:lnTo>
                    <a:pt x="0" y="59319"/>
                  </a:lnTo>
                  <a:cubicBezTo>
                    <a:pt x="0" y="26558"/>
                    <a:pt x="26558" y="0"/>
                    <a:pt x="59319" y="0"/>
                  </a:cubicBezTo>
                  <a:close/>
                </a:path>
              </a:pathLst>
            </a:custGeom>
            <a:solidFill>
              <a:srgbClr val="5170FF">
                <a:alpha val="1569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36145" cy="74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34466" y="6109275"/>
            <a:ext cx="2854307" cy="2554605"/>
          </a:xfrm>
          <a:custGeom>
            <a:avLst/>
            <a:gdLst/>
            <a:ahLst/>
            <a:cxnLst/>
            <a:rect r="r" b="b" t="t" l="l"/>
            <a:pathLst>
              <a:path h="2554605" w="2854307">
                <a:moveTo>
                  <a:pt x="0" y="0"/>
                </a:moveTo>
                <a:lnTo>
                  <a:pt x="2854308" y="0"/>
                </a:lnTo>
                <a:lnTo>
                  <a:pt x="2854308" y="2554605"/>
                </a:lnTo>
                <a:lnTo>
                  <a:pt x="0" y="2554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336360" y="3428639"/>
            <a:ext cx="3301366" cy="745188"/>
            <a:chOff x="0" y="0"/>
            <a:chExt cx="846017" cy="1909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6017" cy="190964"/>
            </a:xfrm>
            <a:custGeom>
              <a:avLst/>
              <a:gdLst/>
              <a:ahLst/>
              <a:cxnLst/>
              <a:rect r="r" b="b" t="t" l="l"/>
              <a:pathLst>
                <a:path h="190964" w="846017">
                  <a:moveTo>
                    <a:pt x="58627" y="0"/>
                  </a:moveTo>
                  <a:lnTo>
                    <a:pt x="787390" y="0"/>
                  </a:lnTo>
                  <a:cubicBezTo>
                    <a:pt x="802939" y="0"/>
                    <a:pt x="817851" y="6177"/>
                    <a:pt x="828845" y="17171"/>
                  </a:cubicBezTo>
                  <a:cubicBezTo>
                    <a:pt x="839840" y="28166"/>
                    <a:pt x="846017" y="43078"/>
                    <a:pt x="846017" y="58627"/>
                  </a:cubicBezTo>
                  <a:lnTo>
                    <a:pt x="846017" y="132337"/>
                  </a:lnTo>
                  <a:cubicBezTo>
                    <a:pt x="846017" y="164716"/>
                    <a:pt x="819769" y="190964"/>
                    <a:pt x="787390" y="190964"/>
                  </a:cubicBezTo>
                  <a:lnTo>
                    <a:pt x="58627" y="190964"/>
                  </a:lnTo>
                  <a:cubicBezTo>
                    <a:pt x="26248" y="190964"/>
                    <a:pt x="0" y="164716"/>
                    <a:pt x="0" y="132337"/>
                  </a:cubicBezTo>
                  <a:lnTo>
                    <a:pt x="0" y="58627"/>
                  </a:lnTo>
                  <a:cubicBezTo>
                    <a:pt x="0" y="26248"/>
                    <a:pt x="26248" y="0"/>
                    <a:pt x="5862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46017" cy="248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848032">
            <a:off x="14955083" y="5806834"/>
            <a:ext cx="558767" cy="781492"/>
          </a:xfrm>
          <a:custGeom>
            <a:avLst/>
            <a:gdLst/>
            <a:ahLst/>
            <a:cxnLst/>
            <a:rect r="r" b="b" t="t" l="l"/>
            <a:pathLst>
              <a:path h="781492" w="558767">
                <a:moveTo>
                  <a:pt x="0" y="0"/>
                </a:moveTo>
                <a:lnTo>
                  <a:pt x="558767" y="0"/>
                </a:lnTo>
                <a:lnTo>
                  <a:pt x="558767" y="781493"/>
                </a:lnTo>
                <a:lnTo>
                  <a:pt x="0" y="7814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46327" y="1386320"/>
            <a:ext cx="3218778" cy="3829522"/>
          </a:xfrm>
          <a:custGeom>
            <a:avLst/>
            <a:gdLst/>
            <a:ahLst/>
            <a:cxnLst/>
            <a:rect r="r" b="b" t="t" l="l"/>
            <a:pathLst>
              <a:path h="3829522" w="3218778">
                <a:moveTo>
                  <a:pt x="0" y="0"/>
                </a:moveTo>
                <a:lnTo>
                  <a:pt x="3218778" y="0"/>
                </a:lnTo>
                <a:lnTo>
                  <a:pt x="3218778" y="3829522"/>
                </a:lnTo>
                <a:lnTo>
                  <a:pt x="0" y="38295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7645" y="1386320"/>
            <a:ext cx="3218778" cy="3829522"/>
          </a:xfrm>
          <a:custGeom>
            <a:avLst/>
            <a:gdLst/>
            <a:ahLst/>
            <a:cxnLst/>
            <a:rect r="r" b="b" t="t" l="l"/>
            <a:pathLst>
              <a:path h="3829522" w="3218778">
                <a:moveTo>
                  <a:pt x="0" y="0"/>
                </a:moveTo>
                <a:lnTo>
                  <a:pt x="3218778" y="0"/>
                </a:lnTo>
                <a:lnTo>
                  <a:pt x="3218778" y="3829522"/>
                </a:lnTo>
                <a:lnTo>
                  <a:pt x="0" y="38295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6105" y="1386320"/>
            <a:ext cx="3218778" cy="3829522"/>
          </a:xfrm>
          <a:custGeom>
            <a:avLst/>
            <a:gdLst/>
            <a:ahLst/>
            <a:cxnLst/>
            <a:rect r="r" b="b" t="t" l="l"/>
            <a:pathLst>
              <a:path h="3829522" w="3218778">
                <a:moveTo>
                  <a:pt x="0" y="0"/>
                </a:moveTo>
                <a:lnTo>
                  <a:pt x="3218778" y="0"/>
                </a:lnTo>
                <a:lnTo>
                  <a:pt x="3218778" y="3829522"/>
                </a:lnTo>
                <a:lnTo>
                  <a:pt x="0" y="38295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458835" y="5438523"/>
            <a:ext cx="9966283" cy="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866775" y="9794962"/>
            <a:ext cx="16554450" cy="219075"/>
          </a:xfrm>
          <a:custGeom>
            <a:avLst/>
            <a:gdLst/>
            <a:ahLst/>
            <a:cxnLst/>
            <a:rect r="r" b="b" t="t" l="l"/>
            <a:pathLst>
              <a:path h="219075" w="16554450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80894" y="5143500"/>
            <a:ext cx="420409" cy="420409"/>
          </a:xfrm>
          <a:custGeom>
            <a:avLst/>
            <a:gdLst/>
            <a:ahLst/>
            <a:cxnLst/>
            <a:rect r="r" b="b" t="t" l="l"/>
            <a:pathLst>
              <a:path h="420409" w="420409">
                <a:moveTo>
                  <a:pt x="0" y="0"/>
                </a:moveTo>
                <a:lnTo>
                  <a:pt x="420408" y="0"/>
                </a:lnTo>
                <a:lnTo>
                  <a:pt x="420408" y="420409"/>
                </a:lnTo>
                <a:lnTo>
                  <a:pt x="0" y="4204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80894" y="6926882"/>
            <a:ext cx="448427" cy="448427"/>
          </a:xfrm>
          <a:custGeom>
            <a:avLst/>
            <a:gdLst/>
            <a:ahLst/>
            <a:cxnLst/>
            <a:rect r="r" b="b" t="t" l="l"/>
            <a:pathLst>
              <a:path h="448427" w="448427">
                <a:moveTo>
                  <a:pt x="0" y="0"/>
                </a:moveTo>
                <a:lnTo>
                  <a:pt x="448426" y="0"/>
                </a:lnTo>
                <a:lnTo>
                  <a:pt x="448426" y="448426"/>
                </a:lnTo>
                <a:lnTo>
                  <a:pt x="0" y="4484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80894" y="5979543"/>
            <a:ext cx="420409" cy="519023"/>
          </a:xfrm>
          <a:custGeom>
            <a:avLst/>
            <a:gdLst/>
            <a:ahLst/>
            <a:cxnLst/>
            <a:rect r="r" b="b" t="t" l="l"/>
            <a:pathLst>
              <a:path h="519023" w="420409">
                <a:moveTo>
                  <a:pt x="0" y="0"/>
                </a:moveTo>
                <a:lnTo>
                  <a:pt x="420408" y="0"/>
                </a:lnTo>
                <a:lnTo>
                  <a:pt x="420408" y="519023"/>
                </a:lnTo>
                <a:lnTo>
                  <a:pt x="0" y="5190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40413" y="395416"/>
            <a:ext cx="7235555" cy="49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0"/>
              </a:lnSpc>
              <a:spcBef>
                <a:spcPct val="0"/>
              </a:spcBef>
            </a:pPr>
            <a:r>
              <a:rPr lang="en-US" sz="3620" spc="-2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 QUE MUDOU NA PRÁTICA?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989" y="2630925"/>
            <a:ext cx="1994449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170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+99%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5382" y="3587427"/>
            <a:ext cx="268375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dos engenheiros utilizam ferramentas de IA semanalmente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82126" y="2631470"/>
            <a:ext cx="1994449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170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+94%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12763" y="3504595"/>
            <a:ext cx="245842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relatam que a IA os tornou mais produtivos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32904" y="2665350"/>
            <a:ext cx="1994449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170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+76%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83634" y="3576575"/>
            <a:ext cx="2114979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na frequência de Pull Requests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82908" y="2456896"/>
            <a:ext cx="650963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 LIMITAÇÃO NÃO ESTÁ MAIS</a:t>
            </a:r>
            <a:r>
              <a:rPr lang="en-US" b="true" sz="2399">
                <a:solidFill>
                  <a:srgbClr val="5170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NO CÓDIGO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6690" y="5249450"/>
            <a:ext cx="1491993" cy="39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b="true" sz="2283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REVISAR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10583" y="6102385"/>
            <a:ext cx="1268007" cy="39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b="true" sz="2283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DECIDIR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3691" y="6977394"/>
            <a:ext cx="1716336" cy="39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b="true" sz="2283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PRIORIZAR</a:t>
            </a:r>
          </a:p>
        </p:txBody>
      </p:sp>
      <p:sp>
        <p:nvSpPr>
          <p:cNvPr name="TextBox 32" id="32"/>
          <p:cNvSpPr txBox="true"/>
          <p:nvPr/>
        </p:nvSpPr>
        <p:spPr>
          <a:xfrm rot="-901666">
            <a:off x="15544249" y="6728192"/>
            <a:ext cx="221992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+76% de PRs também significa mais PRs </a:t>
            </a:r>
            <a:r>
              <a:rPr lang="en-US" b="true" sz="2000" i="true">
                <a:solidFill>
                  <a:srgbClr val="5170FF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para revisar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32062" y="3603077"/>
            <a:ext cx="2948486" cy="39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283" strike="sngStrik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ESCREVER CÓDIGO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4645" y="5733798"/>
            <a:ext cx="37348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Exemplo: Migração JAVA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015" y="10041354"/>
            <a:ext cx="6896901" cy="17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spc="177">
                <a:solidFill>
                  <a:srgbClr val="808080"/>
                </a:solidFill>
                <a:latin typeface="Helvetica Now"/>
                <a:ea typeface="Helvetica Now"/>
                <a:cs typeface="Helvetica Now"/>
                <a:sym typeface="Helvetica Now"/>
              </a:rPr>
              <a:t>Fonte: Spotify Engineering – Coding is No Longer the Constraint (2026).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7384" y="1528425"/>
            <a:ext cx="1168614" cy="34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099" spc="-42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68496" y="1537950"/>
            <a:ext cx="1708860" cy="34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099" spc="-42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PERCEPÇÃO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72853" y="1537950"/>
            <a:ext cx="1494007" cy="34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42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ATIVIDADE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1505566" y="5745340"/>
            <a:ext cx="2872325" cy="143883"/>
          </a:xfrm>
          <a:custGeom>
            <a:avLst/>
            <a:gdLst/>
            <a:ahLst/>
            <a:cxnLst/>
            <a:rect r="r" b="b" t="t" l="l"/>
            <a:pathLst>
              <a:path h="143883" w="2872325">
                <a:moveTo>
                  <a:pt x="0" y="0"/>
                </a:moveTo>
                <a:lnTo>
                  <a:pt x="2872326" y="0"/>
                </a:lnTo>
                <a:lnTo>
                  <a:pt x="2872326" y="143882"/>
                </a:lnTo>
                <a:lnTo>
                  <a:pt x="0" y="14388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570142" y="6770613"/>
            <a:ext cx="2872325" cy="143883"/>
          </a:xfrm>
          <a:custGeom>
            <a:avLst/>
            <a:gdLst/>
            <a:ahLst/>
            <a:cxnLst/>
            <a:rect r="r" b="b" t="t" l="l"/>
            <a:pathLst>
              <a:path h="143883" w="2872325">
                <a:moveTo>
                  <a:pt x="0" y="0"/>
                </a:moveTo>
                <a:lnTo>
                  <a:pt x="2872326" y="0"/>
                </a:lnTo>
                <a:lnTo>
                  <a:pt x="2872326" y="143882"/>
                </a:lnTo>
                <a:lnTo>
                  <a:pt x="0" y="14388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14859" y="1367270"/>
            <a:ext cx="812525" cy="594104"/>
          </a:xfrm>
          <a:custGeom>
            <a:avLst/>
            <a:gdLst/>
            <a:ahLst/>
            <a:cxnLst/>
            <a:rect r="r" b="b" t="t" l="l"/>
            <a:pathLst>
              <a:path h="594104" w="812525">
                <a:moveTo>
                  <a:pt x="0" y="0"/>
                </a:moveTo>
                <a:lnTo>
                  <a:pt x="812525" y="0"/>
                </a:lnTo>
                <a:lnTo>
                  <a:pt x="812525" y="594104"/>
                </a:lnTo>
                <a:lnTo>
                  <a:pt x="0" y="59410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86489" y="1509375"/>
            <a:ext cx="126622" cy="35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266" spc="-67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3764381" y="1376795"/>
            <a:ext cx="812525" cy="594104"/>
          </a:xfrm>
          <a:custGeom>
            <a:avLst/>
            <a:gdLst/>
            <a:ahLst/>
            <a:cxnLst/>
            <a:rect r="r" b="b" t="t" l="l"/>
            <a:pathLst>
              <a:path h="594104" w="812525">
                <a:moveTo>
                  <a:pt x="0" y="0"/>
                </a:moveTo>
                <a:lnTo>
                  <a:pt x="812525" y="0"/>
                </a:lnTo>
                <a:lnTo>
                  <a:pt x="812525" y="594104"/>
                </a:lnTo>
                <a:lnTo>
                  <a:pt x="0" y="59410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4116858" y="1509375"/>
            <a:ext cx="126622" cy="35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266" spc="-67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7379430" y="1376795"/>
            <a:ext cx="812525" cy="594104"/>
          </a:xfrm>
          <a:custGeom>
            <a:avLst/>
            <a:gdLst/>
            <a:ahLst/>
            <a:cxnLst/>
            <a:rect r="r" b="b" t="t" l="l"/>
            <a:pathLst>
              <a:path h="594104" w="812525">
                <a:moveTo>
                  <a:pt x="0" y="0"/>
                </a:moveTo>
                <a:lnTo>
                  <a:pt x="812525" y="0"/>
                </a:lnTo>
                <a:lnTo>
                  <a:pt x="812525" y="594104"/>
                </a:lnTo>
                <a:lnTo>
                  <a:pt x="0" y="59410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731906" y="1518900"/>
            <a:ext cx="126622" cy="35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266" spc="-67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3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28700" y="6759098"/>
            <a:ext cx="3449551" cy="2130886"/>
            <a:chOff x="0" y="0"/>
            <a:chExt cx="836145" cy="5165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36145" cy="516510"/>
            </a:xfrm>
            <a:custGeom>
              <a:avLst/>
              <a:gdLst/>
              <a:ahLst/>
              <a:cxnLst/>
              <a:rect r="r" b="b" t="t" l="l"/>
              <a:pathLst>
                <a:path h="516510" w="836145">
                  <a:moveTo>
                    <a:pt x="56108" y="0"/>
                  </a:moveTo>
                  <a:lnTo>
                    <a:pt x="780037" y="0"/>
                  </a:lnTo>
                  <a:cubicBezTo>
                    <a:pt x="811024" y="0"/>
                    <a:pt x="836145" y="25120"/>
                    <a:pt x="836145" y="56108"/>
                  </a:cubicBezTo>
                  <a:lnTo>
                    <a:pt x="836145" y="460402"/>
                  </a:lnTo>
                  <a:cubicBezTo>
                    <a:pt x="836145" y="491390"/>
                    <a:pt x="811024" y="516510"/>
                    <a:pt x="780037" y="516510"/>
                  </a:cubicBezTo>
                  <a:lnTo>
                    <a:pt x="56108" y="516510"/>
                  </a:lnTo>
                  <a:cubicBezTo>
                    <a:pt x="25120" y="516510"/>
                    <a:pt x="0" y="491390"/>
                    <a:pt x="0" y="460402"/>
                  </a:cubicBezTo>
                  <a:lnTo>
                    <a:pt x="0" y="56108"/>
                  </a:lnTo>
                  <a:cubicBezTo>
                    <a:pt x="0" y="25120"/>
                    <a:pt x="25120" y="0"/>
                    <a:pt x="5610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836145" cy="573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59776" y="7528664"/>
            <a:ext cx="298739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Migrações exigiam coordenação entre diferentes equipes e componentes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211801" y="6724398"/>
            <a:ext cx="3449551" cy="2130886"/>
            <a:chOff x="0" y="0"/>
            <a:chExt cx="836145" cy="5165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6145" cy="516510"/>
            </a:xfrm>
            <a:custGeom>
              <a:avLst/>
              <a:gdLst/>
              <a:ahLst/>
              <a:cxnLst/>
              <a:rect r="r" b="b" t="t" l="l"/>
              <a:pathLst>
                <a:path h="516510" w="836145">
                  <a:moveTo>
                    <a:pt x="56108" y="0"/>
                  </a:moveTo>
                  <a:lnTo>
                    <a:pt x="780037" y="0"/>
                  </a:lnTo>
                  <a:cubicBezTo>
                    <a:pt x="811024" y="0"/>
                    <a:pt x="836145" y="25120"/>
                    <a:pt x="836145" y="56108"/>
                  </a:cubicBezTo>
                  <a:lnTo>
                    <a:pt x="836145" y="460402"/>
                  </a:lnTo>
                  <a:cubicBezTo>
                    <a:pt x="836145" y="491390"/>
                    <a:pt x="811024" y="516510"/>
                    <a:pt x="780037" y="516510"/>
                  </a:cubicBezTo>
                  <a:lnTo>
                    <a:pt x="56108" y="516510"/>
                  </a:lnTo>
                  <a:cubicBezTo>
                    <a:pt x="25120" y="516510"/>
                    <a:pt x="0" y="491390"/>
                    <a:pt x="0" y="460402"/>
                  </a:cubicBezTo>
                  <a:lnTo>
                    <a:pt x="0" y="56108"/>
                  </a:lnTo>
                  <a:cubicBezTo>
                    <a:pt x="0" y="25120"/>
                    <a:pt x="25120" y="0"/>
                    <a:pt x="56108" y="0"/>
                  </a:cubicBezTo>
                  <a:close/>
                </a:path>
              </a:pathLst>
            </a:custGeom>
            <a:solidFill>
              <a:srgbClr val="5170FF">
                <a:alpha val="1569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836145" cy="573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333023" y="7350925"/>
            <a:ext cx="3255937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Helvetica"/>
                <a:ea typeface="Helvetica"/>
                <a:cs typeface="Helvetica"/>
                <a:sym typeface="Helvetica"/>
              </a:rPr>
              <a:t>Uma migração do Backend Java foi conluída em 3 dias, podendo ser conduzida por um único engenheiro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07459" y="6954454"/>
            <a:ext cx="3040682" cy="29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36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PROCESSO TRADICIONAL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67360" y="6919753"/>
            <a:ext cx="2291908" cy="29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36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EXEMPLO RECENTE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4906876" y="7595339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740" y="680471"/>
            <a:ext cx="13061926" cy="57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b="true" sz="3616" spc="-72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SAMSUNG: O RISCO DO CHATGPT COM DADOS INTERNOS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455110" y="634055"/>
            <a:ext cx="2625072" cy="655919"/>
          </a:xfrm>
          <a:custGeom>
            <a:avLst/>
            <a:gdLst/>
            <a:ahLst/>
            <a:cxnLst/>
            <a:rect r="r" b="b" t="t" l="l"/>
            <a:pathLst>
              <a:path h="655919" w="2625072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66" y="634055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91178" y="831079"/>
            <a:ext cx="1620445" cy="24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b="true" sz="1617" spc="-32">
                <a:solidFill>
                  <a:srgbClr val="5D5D5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MARÇO DE 2023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1924030"/>
            <a:ext cx="5457962" cy="6220301"/>
          </a:xfrm>
          <a:custGeom>
            <a:avLst/>
            <a:gdLst/>
            <a:ahLst/>
            <a:cxnLst/>
            <a:rect r="r" b="b" t="t" l="l"/>
            <a:pathLst>
              <a:path h="6220301" w="5457962">
                <a:moveTo>
                  <a:pt x="0" y="0"/>
                </a:moveTo>
                <a:lnTo>
                  <a:pt x="5457962" y="0"/>
                </a:lnTo>
                <a:lnTo>
                  <a:pt x="545796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2142670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6782" y="2237273"/>
            <a:ext cx="2735097" cy="36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b="true" sz="2179" spc="-43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 QUE ACONTECEU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3640352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41522" y="3438755"/>
            <a:ext cx="2490786" cy="141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784" spc="-35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Engenheiros inseriram código propriétário e notas confidenciais</a:t>
            </a:r>
          </a:p>
          <a:p>
            <a:pPr algn="l">
              <a:lnSpc>
                <a:spcPts val="2676"/>
              </a:lnSpc>
            </a:pPr>
            <a:r>
              <a:rPr lang="en-US" sz="1784" spc="-35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ChatGPT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5138034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4086" y="5783021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41783" y="5863543"/>
            <a:ext cx="2464645" cy="141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spc="-36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Dados sensíveis foram enviados a uma ferramenta pública</a:t>
            </a:r>
          </a:p>
          <a:p>
            <a:pPr algn="l">
              <a:lnSpc>
                <a:spcPts val="2715"/>
              </a:lnSpc>
            </a:pPr>
            <a:r>
              <a:rPr lang="en-US" sz="1810" spc="-36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 terceiros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529866" y="1924030"/>
            <a:ext cx="5228268" cy="6220301"/>
          </a:xfrm>
          <a:custGeom>
            <a:avLst/>
            <a:gdLst/>
            <a:ahLst/>
            <a:cxnLst/>
            <a:rect r="r" b="b" t="t" l="l"/>
            <a:pathLst>
              <a:path h="6220301" w="5228268">
                <a:moveTo>
                  <a:pt x="0" y="0"/>
                </a:moveTo>
                <a:lnTo>
                  <a:pt x="5228268" y="0"/>
                </a:lnTo>
                <a:lnTo>
                  <a:pt x="5228268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48622" y="2142670"/>
            <a:ext cx="656268" cy="644987"/>
          </a:xfrm>
          <a:custGeom>
            <a:avLst/>
            <a:gdLst/>
            <a:ahLst/>
            <a:cxnLst/>
            <a:rect r="r" b="b" t="t" l="l"/>
            <a:pathLst>
              <a:path h="644987" w="656268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568393" y="2237273"/>
            <a:ext cx="1291131" cy="36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b="true" sz="2179" spc="-43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748622" y="3214004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250127" y="3242957"/>
            <a:ext cx="2769305" cy="105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spc="-36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Risco de exposição de propriedade intelectual e segredos industriais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48622" y="4493047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956440" y="4711687"/>
            <a:ext cx="885962" cy="1289974"/>
          </a:xfrm>
          <a:custGeom>
            <a:avLst/>
            <a:gdLst/>
            <a:ahLst/>
            <a:cxnLst/>
            <a:rect r="r" b="b" t="t" l="l"/>
            <a:pathLst>
              <a:path h="1289974" w="885962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252446" y="4779163"/>
            <a:ext cx="2537455" cy="105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spc="-36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Samsung restringiu o uso de IAs generativas públicas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748622" y="5990729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56440" y="6428009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255090" y="6285247"/>
            <a:ext cx="2273022" cy="141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spc="-36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empresa passou a investir em uma ferramenta interna</a:t>
            </a:r>
          </a:p>
          <a:p>
            <a:pPr algn="l">
              <a:lnSpc>
                <a:spcPts val="2715"/>
              </a:lnSpc>
            </a:pPr>
            <a:r>
              <a:rPr lang="en-US" sz="1810" spc="-36" b="true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 privada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403464" y="1924030"/>
            <a:ext cx="5239206" cy="6220301"/>
          </a:xfrm>
          <a:custGeom>
            <a:avLst/>
            <a:gdLst/>
            <a:ahLst/>
            <a:cxnLst/>
            <a:rect r="r" b="b" t="t" l="l"/>
            <a:pathLst>
              <a:path h="6220301" w="5239206">
                <a:moveTo>
                  <a:pt x="0" y="0"/>
                </a:moveTo>
                <a:lnTo>
                  <a:pt x="5239206" y="0"/>
                </a:lnTo>
                <a:lnTo>
                  <a:pt x="5239206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622220" y="2142670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142574" y="3214004"/>
            <a:ext cx="1760986" cy="1934962"/>
          </a:xfrm>
          <a:custGeom>
            <a:avLst/>
            <a:gdLst/>
            <a:ahLst/>
            <a:cxnLst/>
            <a:rect r="r" b="b" t="t" l="l"/>
            <a:pathLst>
              <a:path h="1934962" w="1760986">
                <a:moveTo>
                  <a:pt x="0" y="0"/>
                </a:moveTo>
                <a:lnTo>
                  <a:pt x="1760986" y="0"/>
                </a:lnTo>
                <a:lnTo>
                  <a:pt x="176098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572743" y="5243906"/>
            <a:ext cx="4579122" cy="192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3032" spc="-60">
                <a:solidFill>
                  <a:srgbClr val="104BD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IA não é só processamento. Também envolve retenção e governança de dados.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654842" y="4285339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528440" y="4285339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26574" y="8352038"/>
            <a:ext cx="8072096" cy="437279"/>
          </a:xfrm>
          <a:custGeom>
            <a:avLst/>
            <a:gdLst/>
            <a:ahLst/>
            <a:cxnLst/>
            <a:rect r="r" b="b" t="t" l="l"/>
            <a:pathLst>
              <a:path h="437279" w="8072096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706488" y="8133399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570574" y="8352038"/>
            <a:ext cx="8072096" cy="437279"/>
          </a:xfrm>
          <a:custGeom>
            <a:avLst/>
            <a:gdLst/>
            <a:ahLst/>
            <a:cxnLst/>
            <a:rect r="r" b="b" t="t" l="l"/>
            <a:pathLst>
              <a:path h="437279" w="8072096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641506" y="8978993"/>
            <a:ext cx="10479743" cy="89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55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Dados internos só devem ser processados em ambientes com controles de privacidade e governança adequados.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46622" y="2237273"/>
            <a:ext cx="864323" cy="36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b="true" sz="2179" spc="-43">
                <a:solidFill>
                  <a:srgbClr val="10101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39777" y="2237273"/>
            <a:ext cx="160441" cy="36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2179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86949" y="2237273"/>
            <a:ext cx="160441" cy="36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2179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6183" y="2237273"/>
            <a:ext cx="160441" cy="36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2179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2089" y="1483649"/>
            <a:ext cx="2406062" cy="240606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55100" y="1483649"/>
            <a:ext cx="2406062" cy="240606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38595" y="1483649"/>
            <a:ext cx="2406062" cy="24060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70762" y="1483649"/>
            <a:ext cx="2406062" cy="24060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88112" y="1483649"/>
            <a:ext cx="2406062" cy="24060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04617" y="1483649"/>
            <a:ext cx="2406062" cy="240606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915658" y="5143500"/>
            <a:ext cx="1418924" cy="3086100"/>
            <a:chOff x="0" y="0"/>
            <a:chExt cx="286120" cy="622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22089" y="5519351"/>
            <a:ext cx="2406062" cy="4767649"/>
            <a:chOff x="0" y="0"/>
            <a:chExt cx="633695" cy="12556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3695" cy="1255677"/>
            </a:xfrm>
            <a:custGeom>
              <a:avLst/>
              <a:gdLst/>
              <a:ahLst/>
              <a:cxnLst/>
              <a:rect r="r" b="b" t="t" l="l"/>
              <a:pathLst>
                <a:path h="1255677" w="633695">
                  <a:moveTo>
                    <a:pt x="211346" y="1236608"/>
                  </a:moveTo>
                  <a:cubicBezTo>
                    <a:pt x="243834" y="1248122"/>
                    <a:pt x="280768" y="1255677"/>
                    <a:pt x="317018" y="1255677"/>
                  </a:cubicBezTo>
                  <a:cubicBezTo>
                    <a:pt x="353269" y="1255677"/>
                    <a:pt x="388152" y="1249200"/>
                    <a:pt x="420297" y="1237686"/>
                  </a:cubicBezTo>
                  <a:cubicBezTo>
                    <a:pt x="420982" y="1237327"/>
                    <a:pt x="421666" y="1237327"/>
                    <a:pt x="422349" y="1236967"/>
                  </a:cubicBezTo>
                  <a:cubicBezTo>
                    <a:pt x="543070" y="1190912"/>
                    <a:pt x="631986" y="1069298"/>
                    <a:pt x="633695" y="917338"/>
                  </a:cubicBezTo>
                  <a:lnTo>
                    <a:pt x="633695" y="0"/>
                  </a:lnTo>
                  <a:lnTo>
                    <a:pt x="0" y="0"/>
                  </a:lnTo>
                  <a:lnTo>
                    <a:pt x="0" y="916657"/>
                  </a:lnTo>
                  <a:cubicBezTo>
                    <a:pt x="1710" y="1070017"/>
                    <a:pt x="89258" y="1191632"/>
                    <a:pt x="211346" y="1236608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33695" cy="119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infraestrutura essencial para processar os grandes volumes de dados da IA.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3932164" y="5143500"/>
            <a:ext cx="1418924" cy="3086100"/>
            <a:chOff x="0" y="0"/>
            <a:chExt cx="286120" cy="622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38595" y="5519351"/>
            <a:ext cx="2406062" cy="4767649"/>
            <a:chOff x="0" y="0"/>
            <a:chExt cx="633695" cy="12556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3695" cy="1255677"/>
            </a:xfrm>
            <a:custGeom>
              <a:avLst/>
              <a:gdLst/>
              <a:ahLst/>
              <a:cxnLst/>
              <a:rect r="r" b="b" t="t" l="l"/>
              <a:pathLst>
                <a:path h="1255677" w="633695">
                  <a:moveTo>
                    <a:pt x="211346" y="1236608"/>
                  </a:moveTo>
                  <a:cubicBezTo>
                    <a:pt x="243834" y="1248122"/>
                    <a:pt x="280768" y="1255677"/>
                    <a:pt x="317018" y="1255677"/>
                  </a:cubicBezTo>
                  <a:cubicBezTo>
                    <a:pt x="353269" y="1255677"/>
                    <a:pt x="388152" y="1249200"/>
                    <a:pt x="420297" y="1237686"/>
                  </a:cubicBezTo>
                  <a:cubicBezTo>
                    <a:pt x="420982" y="1237327"/>
                    <a:pt x="421666" y="1237327"/>
                    <a:pt x="422349" y="1236967"/>
                  </a:cubicBezTo>
                  <a:cubicBezTo>
                    <a:pt x="543070" y="1190912"/>
                    <a:pt x="631986" y="1069298"/>
                    <a:pt x="633695" y="917338"/>
                  </a:cubicBezTo>
                  <a:lnTo>
                    <a:pt x="633695" y="0"/>
                  </a:lnTo>
                  <a:lnTo>
                    <a:pt x="0" y="0"/>
                  </a:lnTo>
                  <a:lnTo>
                    <a:pt x="0" y="916657"/>
                  </a:lnTo>
                  <a:cubicBezTo>
                    <a:pt x="1710" y="1070017"/>
                    <a:pt x="89258" y="1191632"/>
                    <a:pt x="211346" y="1236608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33695" cy="119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quanto maior a capacidade do modelo, maior tende a ser o processamento e o consumo Alto consumo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-10800000">
            <a:off x="6949557" y="5143500"/>
            <a:ext cx="1418924" cy="3086100"/>
            <a:chOff x="0" y="0"/>
            <a:chExt cx="286120" cy="6223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55100" y="5519351"/>
            <a:ext cx="2406062" cy="4853568"/>
            <a:chOff x="0" y="0"/>
            <a:chExt cx="633695" cy="12783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3695" cy="1278306"/>
            </a:xfrm>
            <a:custGeom>
              <a:avLst/>
              <a:gdLst/>
              <a:ahLst/>
              <a:cxnLst/>
              <a:rect r="r" b="b" t="t" l="l"/>
              <a:pathLst>
                <a:path h="1278306" w="633695">
                  <a:moveTo>
                    <a:pt x="211346" y="1259237"/>
                  </a:moveTo>
                  <a:cubicBezTo>
                    <a:pt x="243834" y="1270751"/>
                    <a:pt x="280768" y="1278306"/>
                    <a:pt x="317018" y="1278306"/>
                  </a:cubicBezTo>
                  <a:cubicBezTo>
                    <a:pt x="353269" y="1278306"/>
                    <a:pt x="388152" y="1271829"/>
                    <a:pt x="420297" y="1260315"/>
                  </a:cubicBezTo>
                  <a:cubicBezTo>
                    <a:pt x="420982" y="1259956"/>
                    <a:pt x="421666" y="1259956"/>
                    <a:pt x="422349" y="1259596"/>
                  </a:cubicBezTo>
                  <a:cubicBezTo>
                    <a:pt x="543070" y="1213541"/>
                    <a:pt x="631986" y="1091927"/>
                    <a:pt x="633695" y="939464"/>
                  </a:cubicBezTo>
                  <a:lnTo>
                    <a:pt x="633695" y="0"/>
                  </a:lnTo>
                  <a:lnTo>
                    <a:pt x="0" y="0"/>
                  </a:lnTo>
                  <a:lnTo>
                    <a:pt x="0" y="938767"/>
                  </a:lnTo>
                  <a:cubicBezTo>
                    <a:pt x="1710" y="1092646"/>
                    <a:pt x="89258" y="1214261"/>
                    <a:pt x="211346" y="1259237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633695" cy="1217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 o consumo energético pode gerar emissões de gases de efeito estufa, dependendo da fonte de energia.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-10800000">
            <a:off x="12983455" y="5143500"/>
            <a:ext cx="1418924" cy="3086100"/>
            <a:chOff x="0" y="0"/>
            <a:chExt cx="286120" cy="6223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10800000">
            <a:off x="13135855" y="5295900"/>
            <a:ext cx="1418924" cy="3086100"/>
            <a:chOff x="0" y="0"/>
            <a:chExt cx="286120" cy="622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88112" y="5519351"/>
            <a:ext cx="2406062" cy="4767649"/>
            <a:chOff x="0" y="0"/>
            <a:chExt cx="633695" cy="12556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3695" cy="1255677"/>
            </a:xfrm>
            <a:custGeom>
              <a:avLst/>
              <a:gdLst/>
              <a:ahLst/>
              <a:cxnLst/>
              <a:rect r="r" b="b" t="t" l="l"/>
              <a:pathLst>
                <a:path h="1255677" w="633695">
                  <a:moveTo>
                    <a:pt x="211346" y="1236608"/>
                  </a:moveTo>
                  <a:cubicBezTo>
                    <a:pt x="243834" y="1248122"/>
                    <a:pt x="280768" y="1255677"/>
                    <a:pt x="317018" y="1255677"/>
                  </a:cubicBezTo>
                  <a:cubicBezTo>
                    <a:pt x="353269" y="1255677"/>
                    <a:pt x="388152" y="1249200"/>
                    <a:pt x="420297" y="1237686"/>
                  </a:cubicBezTo>
                  <a:cubicBezTo>
                    <a:pt x="420982" y="1237327"/>
                    <a:pt x="421666" y="1237327"/>
                    <a:pt x="422349" y="1236967"/>
                  </a:cubicBezTo>
                  <a:cubicBezTo>
                    <a:pt x="543070" y="1190912"/>
                    <a:pt x="631986" y="1069298"/>
                    <a:pt x="633695" y="917338"/>
                  </a:cubicBezTo>
                  <a:lnTo>
                    <a:pt x="633695" y="0"/>
                  </a:lnTo>
                  <a:lnTo>
                    <a:pt x="0" y="0"/>
                  </a:lnTo>
                  <a:lnTo>
                    <a:pt x="0" y="916657"/>
                  </a:lnTo>
                  <a:cubicBezTo>
                    <a:pt x="1710" y="1070017"/>
                    <a:pt x="89258" y="1191632"/>
                    <a:pt x="211346" y="1236608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633695" cy="119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a expansão da infraestrutura gera equipamentos que precisam de descarte adequado.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-10800000">
            <a:off x="9964288" y="5143500"/>
            <a:ext cx="1418924" cy="3086100"/>
            <a:chOff x="0" y="0"/>
            <a:chExt cx="286120" cy="6223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71606" y="5519351"/>
            <a:ext cx="2406062" cy="4767649"/>
            <a:chOff x="0" y="0"/>
            <a:chExt cx="633695" cy="12556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3695" cy="1255677"/>
            </a:xfrm>
            <a:custGeom>
              <a:avLst/>
              <a:gdLst/>
              <a:ahLst/>
              <a:cxnLst/>
              <a:rect r="r" b="b" t="t" l="l"/>
              <a:pathLst>
                <a:path h="1255677" w="633695">
                  <a:moveTo>
                    <a:pt x="211346" y="1236608"/>
                  </a:moveTo>
                  <a:cubicBezTo>
                    <a:pt x="243834" y="1248122"/>
                    <a:pt x="280768" y="1255677"/>
                    <a:pt x="317018" y="1255677"/>
                  </a:cubicBezTo>
                  <a:cubicBezTo>
                    <a:pt x="353269" y="1255677"/>
                    <a:pt x="388152" y="1249200"/>
                    <a:pt x="420297" y="1237686"/>
                  </a:cubicBezTo>
                  <a:cubicBezTo>
                    <a:pt x="420982" y="1237327"/>
                    <a:pt x="421666" y="1237327"/>
                    <a:pt x="422349" y="1236967"/>
                  </a:cubicBezTo>
                  <a:cubicBezTo>
                    <a:pt x="543070" y="1190912"/>
                    <a:pt x="631986" y="1069298"/>
                    <a:pt x="633695" y="917338"/>
                  </a:cubicBezTo>
                  <a:lnTo>
                    <a:pt x="633695" y="0"/>
                  </a:lnTo>
                  <a:lnTo>
                    <a:pt x="0" y="0"/>
                  </a:lnTo>
                  <a:lnTo>
                    <a:pt x="0" y="916657"/>
                  </a:lnTo>
                  <a:cubicBezTo>
                    <a:pt x="1710" y="1070017"/>
                    <a:pt x="89258" y="1191632"/>
                    <a:pt x="211346" y="1236608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633695" cy="1204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a infraestrutura depende de minerais e componentes eletrônicos.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-10800000">
            <a:off x="15998187" y="5143500"/>
            <a:ext cx="1418924" cy="3086100"/>
            <a:chOff x="0" y="0"/>
            <a:chExt cx="286120" cy="6223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6120" cy="622300"/>
            </a:xfrm>
            <a:custGeom>
              <a:avLst/>
              <a:gdLst/>
              <a:ahLst/>
              <a:cxnLst/>
              <a:rect r="r" b="b" t="t" l="l"/>
              <a:pathLst>
                <a:path h="622300" w="286120">
                  <a:moveTo>
                    <a:pt x="286120" y="49530"/>
                  </a:moveTo>
                  <a:lnTo>
                    <a:pt x="286120" y="453390"/>
                  </a:lnTo>
                  <a:lnTo>
                    <a:pt x="14306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17167" y="0"/>
                    <a:pt x="37196" y="0"/>
                  </a:cubicBezTo>
                  <a:lnTo>
                    <a:pt x="248925" y="0"/>
                  </a:lnTo>
                  <a:cubicBezTo>
                    <a:pt x="268953" y="0"/>
                    <a:pt x="286120" y="22860"/>
                    <a:pt x="286120" y="4953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86120" cy="5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504617" y="5519351"/>
            <a:ext cx="2406062" cy="4853568"/>
            <a:chOff x="0" y="0"/>
            <a:chExt cx="633695" cy="12783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3695" cy="1278306"/>
            </a:xfrm>
            <a:custGeom>
              <a:avLst/>
              <a:gdLst/>
              <a:ahLst/>
              <a:cxnLst/>
              <a:rect r="r" b="b" t="t" l="l"/>
              <a:pathLst>
                <a:path h="1278306" w="633695">
                  <a:moveTo>
                    <a:pt x="211346" y="1259237"/>
                  </a:moveTo>
                  <a:cubicBezTo>
                    <a:pt x="243834" y="1270751"/>
                    <a:pt x="280768" y="1278306"/>
                    <a:pt x="317018" y="1278306"/>
                  </a:cubicBezTo>
                  <a:cubicBezTo>
                    <a:pt x="353269" y="1278306"/>
                    <a:pt x="388152" y="1271829"/>
                    <a:pt x="420297" y="1260315"/>
                  </a:cubicBezTo>
                  <a:cubicBezTo>
                    <a:pt x="420982" y="1259956"/>
                    <a:pt x="421666" y="1259956"/>
                    <a:pt x="422349" y="1259596"/>
                  </a:cubicBezTo>
                  <a:cubicBezTo>
                    <a:pt x="543070" y="1213541"/>
                    <a:pt x="631986" y="1091927"/>
                    <a:pt x="633695" y="939464"/>
                  </a:cubicBezTo>
                  <a:lnTo>
                    <a:pt x="633695" y="0"/>
                  </a:lnTo>
                  <a:lnTo>
                    <a:pt x="0" y="0"/>
                  </a:lnTo>
                  <a:lnTo>
                    <a:pt x="0" y="938767"/>
                  </a:lnTo>
                  <a:cubicBezTo>
                    <a:pt x="1710" y="1092646"/>
                    <a:pt x="89258" y="1214261"/>
                    <a:pt x="211346" y="1259237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633695" cy="1217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 o custo da IA não é apenas o preço da ferramenta; envolve energia, água, infraestrutura e recursos naturais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798072" y="1859632"/>
            <a:ext cx="1654096" cy="1654096"/>
          </a:xfrm>
          <a:custGeom>
            <a:avLst/>
            <a:gdLst/>
            <a:ahLst/>
            <a:cxnLst/>
            <a:rect r="r" b="b" t="t" l="l"/>
            <a:pathLst>
              <a:path h="1654096" w="1654096">
                <a:moveTo>
                  <a:pt x="0" y="0"/>
                </a:moveTo>
                <a:lnTo>
                  <a:pt x="1654096" y="0"/>
                </a:lnTo>
                <a:lnTo>
                  <a:pt x="1654096" y="1654095"/>
                </a:lnTo>
                <a:lnTo>
                  <a:pt x="0" y="1654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3932164" y="1788627"/>
            <a:ext cx="1418924" cy="1796106"/>
          </a:xfrm>
          <a:custGeom>
            <a:avLst/>
            <a:gdLst/>
            <a:ahLst/>
            <a:cxnLst/>
            <a:rect r="r" b="b" t="t" l="l"/>
            <a:pathLst>
              <a:path h="1796106" w="1418924">
                <a:moveTo>
                  <a:pt x="0" y="0"/>
                </a:moveTo>
                <a:lnTo>
                  <a:pt x="1418923" y="0"/>
                </a:lnTo>
                <a:lnTo>
                  <a:pt x="1418923" y="1796105"/>
                </a:lnTo>
                <a:lnTo>
                  <a:pt x="0" y="1796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6949557" y="1907145"/>
            <a:ext cx="1607288" cy="1559069"/>
          </a:xfrm>
          <a:custGeom>
            <a:avLst/>
            <a:gdLst/>
            <a:ahLst/>
            <a:cxnLst/>
            <a:rect r="r" b="b" t="t" l="l"/>
            <a:pathLst>
              <a:path h="1559069" w="1607288">
                <a:moveTo>
                  <a:pt x="0" y="0"/>
                </a:moveTo>
                <a:lnTo>
                  <a:pt x="1607287" y="0"/>
                </a:lnTo>
                <a:lnTo>
                  <a:pt x="1607287" y="1559069"/>
                </a:lnTo>
                <a:lnTo>
                  <a:pt x="0" y="155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9788315" y="1734599"/>
            <a:ext cx="1770870" cy="1904161"/>
          </a:xfrm>
          <a:custGeom>
            <a:avLst/>
            <a:gdLst/>
            <a:ahLst/>
            <a:cxnLst/>
            <a:rect r="r" b="b" t="t" l="l"/>
            <a:pathLst>
              <a:path h="1904161" w="1770870">
                <a:moveTo>
                  <a:pt x="0" y="0"/>
                </a:moveTo>
                <a:lnTo>
                  <a:pt x="1770870" y="0"/>
                </a:lnTo>
                <a:lnTo>
                  <a:pt x="1770870" y="1904161"/>
                </a:lnTo>
                <a:lnTo>
                  <a:pt x="0" y="19041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751494" y="1734599"/>
            <a:ext cx="1882846" cy="1788704"/>
          </a:xfrm>
          <a:custGeom>
            <a:avLst/>
            <a:gdLst/>
            <a:ahLst/>
            <a:cxnLst/>
            <a:rect r="r" b="b" t="t" l="l"/>
            <a:pathLst>
              <a:path h="1788704" w="1882846">
                <a:moveTo>
                  <a:pt x="0" y="0"/>
                </a:moveTo>
                <a:lnTo>
                  <a:pt x="1882846" y="0"/>
                </a:lnTo>
                <a:lnTo>
                  <a:pt x="1882846" y="1788704"/>
                </a:lnTo>
                <a:lnTo>
                  <a:pt x="0" y="1788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6023114" y="1935329"/>
            <a:ext cx="1557203" cy="1502701"/>
          </a:xfrm>
          <a:custGeom>
            <a:avLst/>
            <a:gdLst/>
            <a:ahLst/>
            <a:cxnLst/>
            <a:rect r="r" b="b" t="t" l="l"/>
            <a:pathLst>
              <a:path h="1502701" w="1557203">
                <a:moveTo>
                  <a:pt x="0" y="0"/>
                </a:moveTo>
                <a:lnTo>
                  <a:pt x="1557203" y="0"/>
                </a:lnTo>
                <a:lnTo>
                  <a:pt x="1557203" y="1502701"/>
                </a:lnTo>
                <a:lnTo>
                  <a:pt x="0" y="1502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2587313" y="38518"/>
            <a:ext cx="12547699" cy="146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b="true" sz="8600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custo invisível da IA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-676201" y="4330732"/>
            <a:ext cx="4602642" cy="55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2791" b="true">
                <a:solidFill>
                  <a:srgbClr val="FFFFFF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Data centers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228405" y="4330732"/>
            <a:ext cx="4602642" cy="55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2791" b="true">
                <a:solidFill>
                  <a:srgbClr val="FFFFFF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Alto consumo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351087" y="4355497"/>
            <a:ext cx="4602642" cy="55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2791" b="true">
                <a:solidFill>
                  <a:srgbClr val="FFFFFF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    Impacto  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380813" y="4355497"/>
            <a:ext cx="4602642" cy="55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2791" b="true">
                <a:solidFill>
                  <a:srgbClr val="FFFFFF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   Recursos 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20472" y="4330732"/>
            <a:ext cx="4602642" cy="55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2791" b="true">
                <a:solidFill>
                  <a:srgbClr val="FFFFFF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  Resíduos  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402379" y="4330732"/>
            <a:ext cx="4602642" cy="55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2791" b="true">
                <a:solidFill>
                  <a:srgbClr val="FFFFFF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  Custo real 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165090" y="-1092727"/>
            <a:ext cx="1631446" cy="8330217"/>
            <a:chOff x="0" y="0"/>
            <a:chExt cx="170098" cy="868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098" cy="847971"/>
            </a:xfrm>
            <a:custGeom>
              <a:avLst/>
              <a:gdLst/>
              <a:ahLst/>
              <a:cxnLst/>
              <a:rect r="r" b="b" t="t" l="l"/>
              <a:pathLst>
                <a:path h="847971" w="170098">
                  <a:moveTo>
                    <a:pt x="170098" y="52657"/>
                  </a:moveTo>
                  <a:lnTo>
                    <a:pt x="170098" y="666251"/>
                  </a:lnTo>
                  <a:cubicBezTo>
                    <a:pt x="170098" y="688190"/>
                    <a:pt x="164959" y="709824"/>
                    <a:pt x="155093" y="729419"/>
                  </a:cubicBezTo>
                  <a:lnTo>
                    <a:pt x="100055" y="838726"/>
                  </a:lnTo>
                  <a:cubicBezTo>
                    <a:pt x="97201" y="844395"/>
                    <a:pt x="91396" y="847971"/>
                    <a:pt x="85049" y="847971"/>
                  </a:cubicBezTo>
                  <a:cubicBezTo>
                    <a:pt x="78703" y="847971"/>
                    <a:pt x="72898" y="844395"/>
                    <a:pt x="70044" y="838726"/>
                  </a:cubicBezTo>
                  <a:lnTo>
                    <a:pt x="15006" y="729419"/>
                  </a:lnTo>
                  <a:cubicBezTo>
                    <a:pt x="5139" y="709824"/>
                    <a:pt x="0" y="688190"/>
                    <a:pt x="0" y="666251"/>
                  </a:cubicBezTo>
                  <a:lnTo>
                    <a:pt x="0" y="52657"/>
                  </a:lnTo>
                  <a:cubicBezTo>
                    <a:pt x="0" y="22860"/>
                    <a:pt x="10206" y="0"/>
                    <a:pt x="22113" y="0"/>
                  </a:cubicBezTo>
                  <a:lnTo>
                    <a:pt x="147986" y="0"/>
                  </a:lnTo>
                  <a:cubicBezTo>
                    <a:pt x="159892" y="0"/>
                    <a:pt x="170098" y="22860"/>
                    <a:pt x="170098" y="52657"/>
                  </a:cubicBezTo>
                  <a:lnTo>
                    <a:pt x="0" y="0"/>
                  </a:lnTo>
                  <a:cubicBezTo>
                    <a:pt x="0" y="0"/>
                    <a:pt x="170098" y="52657"/>
                    <a:pt x="170098" y="52657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0098" cy="749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2361409" y="1239594"/>
            <a:ext cx="1631446" cy="9937580"/>
            <a:chOff x="0" y="0"/>
            <a:chExt cx="170098" cy="10361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098" cy="1015558"/>
            </a:xfrm>
            <a:custGeom>
              <a:avLst/>
              <a:gdLst/>
              <a:ahLst/>
              <a:cxnLst/>
              <a:rect r="r" b="b" t="t" l="l"/>
              <a:pathLst>
                <a:path h="1015558" w="170098">
                  <a:moveTo>
                    <a:pt x="170098" y="54785"/>
                  </a:moveTo>
                  <a:lnTo>
                    <a:pt x="170098" y="833839"/>
                  </a:lnTo>
                  <a:cubicBezTo>
                    <a:pt x="170098" y="855778"/>
                    <a:pt x="164959" y="877412"/>
                    <a:pt x="155093" y="897007"/>
                  </a:cubicBezTo>
                  <a:lnTo>
                    <a:pt x="100055" y="1006313"/>
                  </a:lnTo>
                  <a:cubicBezTo>
                    <a:pt x="97201" y="1011982"/>
                    <a:pt x="91396" y="1015558"/>
                    <a:pt x="85049" y="1015558"/>
                  </a:cubicBezTo>
                  <a:cubicBezTo>
                    <a:pt x="78703" y="1015558"/>
                    <a:pt x="72898" y="1011982"/>
                    <a:pt x="70043" y="1006313"/>
                  </a:cubicBezTo>
                  <a:lnTo>
                    <a:pt x="15006" y="897007"/>
                  </a:lnTo>
                  <a:cubicBezTo>
                    <a:pt x="5139" y="877412"/>
                    <a:pt x="0" y="855778"/>
                    <a:pt x="0" y="833839"/>
                  </a:cubicBezTo>
                  <a:lnTo>
                    <a:pt x="0" y="54785"/>
                  </a:lnTo>
                  <a:cubicBezTo>
                    <a:pt x="0" y="22860"/>
                    <a:pt x="10206" y="0"/>
                    <a:pt x="22113" y="0"/>
                  </a:cubicBezTo>
                  <a:lnTo>
                    <a:pt x="147986" y="0"/>
                  </a:lnTo>
                  <a:cubicBezTo>
                    <a:pt x="159892" y="0"/>
                    <a:pt x="170098" y="22860"/>
                    <a:pt x="170098" y="54785"/>
                  </a:cubicBezTo>
                  <a:lnTo>
                    <a:pt x="0" y="0"/>
                  </a:lnTo>
                  <a:cubicBezTo>
                    <a:pt x="0" y="0"/>
                    <a:pt x="170098" y="54785"/>
                    <a:pt x="170098" y="54785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70098" cy="916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3968772" y="-363478"/>
            <a:ext cx="1631446" cy="9937580"/>
            <a:chOff x="0" y="0"/>
            <a:chExt cx="170098" cy="10361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098" cy="1015558"/>
            </a:xfrm>
            <a:custGeom>
              <a:avLst/>
              <a:gdLst/>
              <a:ahLst/>
              <a:cxnLst/>
              <a:rect r="r" b="b" t="t" l="l"/>
              <a:pathLst>
                <a:path h="1015558" w="170098">
                  <a:moveTo>
                    <a:pt x="170098" y="54785"/>
                  </a:moveTo>
                  <a:lnTo>
                    <a:pt x="170098" y="833839"/>
                  </a:lnTo>
                  <a:cubicBezTo>
                    <a:pt x="170098" y="855778"/>
                    <a:pt x="164959" y="877412"/>
                    <a:pt x="155093" y="897007"/>
                  </a:cubicBezTo>
                  <a:lnTo>
                    <a:pt x="100055" y="1006313"/>
                  </a:lnTo>
                  <a:cubicBezTo>
                    <a:pt x="97201" y="1011982"/>
                    <a:pt x="91396" y="1015558"/>
                    <a:pt x="85049" y="1015558"/>
                  </a:cubicBezTo>
                  <a:cubicBezTo>
                    <a:pt x="78703" y="1015558"/>
                    <a:pt x="72898" y="1011982"/>
                    <a:pt x="70043" y="1006313"/>
                  </a:cubicBezTo>
                  <a:lnTo>
                    <a:pt x="15006" y="897007"/>
                  </a:lnTo>
                  <a:cubicBezTo>
                    <a:pt x="5139" y="877412"/>
                    <a:pt x="0" y="855778"/>
                    <a:pt x="0" y="833839"/>
                  </a:cubicBezTo>
                  <a:lnTo>
                    <a:pt x="0" y="54785"/>
                  </a:lnTo>
                  <a:cubicBezTo>
                    <a:pt x="0" y="22860"/>
                    <a:pt x="10206" y="0"/>
                    <a:pt x="22113" y="0"/>
                  </a:cubicBezTo>
                  <a:lnTo>
                    <a:pt x="147986" y="0"/>
                  </a:lnTo>
                  <a:cubicBezTo>
                    <a:pt x="159892" y="0"/>
                    <a:pt x="170098" y="22860"/>
                    <a:pt x="170098" y="54785"/>
                  </a:cubicBezTo>
                  <a:lnTo>
                    <a:pt x="0" y="0"/>
                  </a:lnTo>
                  <a:cubicBezTo>
                    <a:pt x="0" y="0"/>
                    <a:pt x="170098" y="54785"/>
                    <a:pt x="170098" y="54785"/>
                  </a:cubicBezTo>
                  <a:close/>
                </a:path>
              </a:pathLst>
            </a:custGeom>
            <a:solidFill>
              <a:srgbClr val="ADD29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0098" cy="916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3672028" y="2871040"/>
            <a:ext cx="1631446" cy="9937580"/>
            <a:chOff x="0" y="0"/>
            <a:chExt cx="170098" cy="10361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098" cy="1015558"/>
            </a:xfrm>
            <a:custGeom>
              <a:avLst/>
              <a:gdLst/>
              <a:ahLst/>
              <a:cxnLst/>
              <a:rect r="r" b="b" t="t" l="l"/>
              <a:pathLst>
                <a:path h="1015558" w="170098">
                  <a:moveTo>
                    <a:pt x="170098" y="54785"/>
                  </a:moveTo>
                  <a:lnTo>
                    <a:pt x="170098" y="833839"/>
                  </a:lnTo>
                  <a:cubicBezTo>
                    <a:pt x="170098" y="855778"/>
                    <a:pt x="164959" y="877412"/>
                    <a:pt x="155093" y="897007"/>
                  </a:cubicBezTo>
                  <a:lnTo>
                    <a:pt x="100055" y="1006313"/>
                  </a:lnTo>
                  <a:cubicBezTo>
                    <a:pt x="97201" y="1011982"/>
                    <a:pt x="91396" y="1015558"/>
                    <a:pt x="85049" y="1015558"/>
                  </a:cubicBezTo>
                  <a:cubicBezTo>
                    <a:pt x="78703" y="1015558"/>
                    <a:pt x="72898" y="1011982"/>
                    <a:pt x="70043" y="1006313"/>
                  </a:cubicBezTo>
                  <a:lnTo>
                    <a:pt x="15006" y="897007"/>
                  </a:lnTo>
                  <a:cubicBezTo>
                    <a:pt x="5139" y="877412"/>
                    <a:pt x="0" y="855778"/>
                    <a:pt x="0" y="833839"/>
                  </a:cubicBezTo>
                  <a:lnTo>
                    <a:pt x="0" y="54785"/>
                  </a:lnTo>
                  <a:cubicBezTo>
                    <a:pt x="0" y="22860"/>
                    <a:pt x="10206" y="0"/>
                    <a:pt x="22113" y="0"/>
                  </a:cubicBezTo>
                  <a:lnTo>
                    <a:pt x="147986" y="0"/>
                  </a:lnTo>
                  <a:cubicBezTo>
                    <a:pt x="159892" y="0"/>
                    <a:pt x="170098" y="22860"/>
                    <a:pt x="170098" y="54785"/>
                  </a:cubicBezTo>
                  <a:lnTo>
                    <a:pt x="0" y="0"/>
                  </a:lnTo>
                  <a:cubicBezTo>
                    <a:pt x="0" y="0"/>
                    <a:pt x="170098" y="54785"/>
                    <a:pt x="170098" y="54785"/>
                  </a:cubicBezTo>
                  <a:close/>
                </a:path>
              </a:pathLst>
            </a:custGeom>
            <a:solidFill>
              <a:srgbClr val="ADD29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0098" cy="916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2361409" y="4502487"/>
            <a:ext cx="1631446" cy="9937580"/>
            <a:chOff x="0" y="0"/>
            <a:chExt cx="170098" cy="10361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098" cy="1015558"/>
            </a:xfrm>
            <a:custGeom>
              <a:avLst/>
              <a:gdLst/>
              <a:ahLst/>
              <a:cxnLst/>
              <a:rect r="r" b="b" t="t" l="l"/>
              <a:pathLst>
                <a:path h="1015558" w="170098">
                  <a:moveTo>
                    <a:pt x="170098" y="54785"/>
                  </a:moveTo>
                  <a:lnTo>
                    <a:pt x="170098" y="833839"/>
                  </a:lnTo>
                  <a:cubicBezTo>
                    <a:pt x="170098" y="855778"/>
                    <a:pt x="164959" y="877412"/>
                    <a:pt x="155093" y="897007"/>
                  </a:cubicBezTo>
                  <a:lnTo>
                    <a:pt x="100055" y="1006313"/>
                  </a:lnTo>
                  <a:cubicBezTo>
                    <a:pt x="97201" y="1011982"/>
                    <a:pt x="91396" y="1015558"/>
                    <a:pt x="85049" y="1015558"/>
                  </a:cubicBezTo>
                  <a:cubicBezTo>
                    <a:pt x="78703" y="1015558"/>
                    <a:pt x="72898" y="1011982"/>
                    <a:pt x="70043" y="1006313"/>
                  </a:cubicBezTo>
                  <a:lnTo>
                    <a:pt x="15006" y="897007"/>
                  </a:lnTo>
                  <a:cubicBezTo>
                    <a:pt x="5139" y="877412"/>
                    <a:pt x="0" y="855778"/>
                    <a:pt x="0" y="833839"/>
                  </a:cubicBezTo>
                  <a:lnTo>
                    <a:pt x="0" y="54785"/>
                  </a:lnTo>
                  <a:cubicBezTo>
                    <a:pt x="0" y="22860"/>
                    <a:pt x="10206" y="0"/>
                    <a:pt x="22113" y="0"/>
                  </a:cubicBezTo>
                  <a:lnTo>
                    <a:pt x="147986" y="0"/>
                  </a:lnTo>
                  <a:cubicBezTo>
                    <a:pt x="159892" y="0"/>
                    <a:pt x="170098" y="22860"/>
                    <a:pt x="170098" y="54785"/>
                  </a:cubicBezTo>
                  <a:lnTo>
                    <a:pt x="0" y="0"/>
                  </a:lnTo>
                  <a:cubicBezTo>
                    <a:pt x="0" y="0"/>
                    <a:pt x="170098" y="54785"/>
                    <a:pt x="170098" y="54785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0098" cy="916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079178" y="3752467"/>
            <a:ext cx="1681344" cy="1672938"/>
          </a:xfrm>
          <a:custGeom>
            <a:avLst/>
            <a:gdLst/>
            <a:ahLst/>
            <a:cxnLst/>
            <a:rect r="r" b="b" t="t" l="l"/>
            <a:pathLst>
              <a:path h="1672938" w="1681344">
                <a:moveTo>
                  <a:pt x="0" y="0"/>
                </a:moveTo>
                <a:lnTo>
                  <a:pt x="1681344" y="0"/>
                </a:lnTo>
                <a:lnTo>
                  <a:pt x="1681344" y="1672937"/>
                </a:lnTo>
                <a:lnTo>
                  <a:pt x="0" y="167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476874" y="1825853"/>
            <a:ext cx="1771229" cy="1744661"/>
          </a:xfrm>
          <a:custGeom>
            <a:avLst/>
            <a:gdLst/>
            <a:ahLst/>
            <a:cxnLst/>
            <a:rect r="r" b="b" t="t" l="l"/>
            <a:pathLst>
              <a:path h="1744661" w="1771229">
                <a:moveTo>
                  <a:pt x="0" y="0"/>
                </a:moveTo>
                <a:lnTo>
                  <a:pt x="1771229" y="0"/>
                </a:lnTo>
                <a:lnTo>
                  <a:pt x="1771229" y="1744660"/>
                </a:lnTo>
                <a:lnTo>
                  <a:pt x="0" y="1744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00333" y="5521708"/>
            <a:ext cx="1112415" cy="1373352"/>
          </a:xfrm>
          <a:custGeom>
            <a:avLst/>
            <a:gdLst/>
            <a:ahLst/>
            <a:cxnLst/>
            <a:rect r="r" b="b" t="t" l="l"/>
            <a:pathLst>
              <a:path h="1373352" w="1112415">
                <a:moveTo>
                  <a:pt x="0" y="0"/>
                </a:moveTo>
                <a:lnTo>
                  <a:pt x="1112416" y="0"/>
                </a:lnTo>
                <a:lnTo>
                  <a:pt x="1112416" y="1373352"/>
                </a:lnTo>
                <a:lnTo>
                  <a:pt x="0" y="13733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4325942">
            <a:off x="11166149" y="5133091"/>
            <a:ext cx="1164625" cy="2079688"/>
          </a:xfrm>
          <a:custGeom>
            <a:avLst/>
            <a:gdLst/>
            <a:ahLst/>
            <a:cxnLst/>
            <a:rect r="r" b="b" t="t" l="l"/>
            <a:pathLst>
              <a:path h="2079688" w="1164625">
                <a:moveTo>
                  <a:pt x="1164625" y="0"/>
                </a:moveTo>
                <a:lnTo>
                  <a:pt x="0" y="0"/>
                </a:lnTo>
                <a:lnTo>
                  <a:pt x="0" y="2079688"/>
                </a:lnTo>
                <a:lnTo>
                  <a:pt x="1164625" y="2079688"/>
                </a:lnTo>
                <a:lnTo>
                  <a:pt x="116462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68096" y="7234416"/>
            <a:ext cx="1503508" cy="1285499"/>
          </a:xfrm>
          <a:custGeom>
            <a:avLst/>
            <a:gdLst/>
            <a:ahLst/>
            <a:cxnLst/>
            <a:rect r="r" b="b" t="t" l="l"/>
            <a:pathLst>
              <a:path h="1285499" w="1503508">
                <a:moveTo>
                  <a:pt x="0" y="0"/>
                </a:moveTo>
                <a:lnTo>
                  <a:pt x="1503508" y="0"/>
                </a:lnTo>
                <a:lnTo>
                  <a:pt x="1503508" y="1285500"/>
                </a:lnTo>
                <a:lnTo>
                  <a:pt x="0" y="1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18763" y="8519916"/>
            <a:ext cx="2069045" cy="1603510"/>
          </a:xfrm>
          <a:custGeom>
            <a:avLst/>
            <a:gdLst/>
            <a:ahLst/>
            <a:cxnLst/>
            <a:rect r="r" b="b" t="t" l="l"/>
            <a:pathLst>
              <a:path h="1603510" w="2069045">
                <a:moveTo>
                  <a:pt x="0" y="0"/>
                </a:moveTo>
                <a:lnTo>
                  <a:pt x="2069044" y="0"/>
                </a:lnTo>
                <a:lnTo>
                  <a:pt x="2069044" y="1603509"/>
                </a:lnTo>
                <a:lnTo>
                  <a:pt x="0" y="16035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85850" y="256840"/>
            <a:ext cx="16116300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</a:t>
            </a:r>
            <a:r>
              <a:rPr lang="en-US" b="true" sz="7200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utividade X Sustentabilidade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8804" y="2325621"/>
            <a:ext cx="6092243" cy="142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Mais produtividad</a:t>
            </a: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 não significa necessariamente menor impacto ambiental.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8804" y="4192905"/>
            <a:ext cx="6092243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 IA pode reduzir</a:t>
            </a: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o tempo de execução de tarefas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8804" y="5725835"/>
            <a:ext cx="6092243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Mas seu uso aumenta</a:t>
            </a: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a demanda por processamento e infraestrutura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8804" y="7093070"/>
            <a:ext cx="6092243" cy="142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Os impactos ambientais</a:t>
            </a: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são externalidades que precisam ser consideradas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8804" y="8941304"/>
            <a:ext cx="6092243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É necessário avaliar</a:t>
            </a:r>
            <a:r>
              <a:rPr lang="en-US" sz="26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custo, produtividade e sustentabilidade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8558" y="1252828"/>
            <a:ext cx="5002591" cy="1088411"/>
            <a:chOff x="0" y="0"/>
            <a:chExt cx="1317555" cy="286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7555" cy="286660"/>
            </a:xfrm>
            <a:custGeom>
              <a:avLst/>
              <a:gdLst/>
              <a:ahLst/>
              <a:cxnLst/>
              <a:rect r="r" b="b" t="t" l="l"/>
              <a:pathLst>
                <a:path h="286660" w="1317555">
                  <a:moveTo>
                    <a:pt x="78927" y="0"/>
                  </a:moveTo>
                  <a:lnTo>
                    <a:pt x="1238628" y="0"/>
                  </a:lnTo>
                  <a:cubicBezTo>
                    <a:pt x="1259561" y="0"/>
                    <a:pt x="1279636" y="8315"/>
                    <a:pt x="1294438" y="23117"/>
                  </a:cubicBezTo>
                  <a:cubicBezTo>
                    <a:pt x="1309239" y="37919"/>
                    <a:pt x="1317555" y="57994"/>
                    <a:pt x="1317555" y="78927"/>
                  </a:cubicBezTo>
                  <a:lnTo>
                    <a:pt x="1317555" y="207733"/>
                  </a:lnTo>
                  <a:cubicBezTo>
                    <a:pt x="1317555" y="251323"/>
                    <a:pt x="1282218" y="286660"/>
                    <a:pt x="1238628" y="286660"/>
                  </a:cubicBezTo>
                  <a:lnTo>
                    <a:pt x="78927" y="286660"/>
                  </a:lnTo>
                  <a:cubicBezTo>
                    <a:pt x="35337" y="286660"/>
                    <a:pt x="0" y="251323"/>
                    <a:pt x="0" y="207733"/>
                  </a:cubicBezTo>
                  <a:lnTo>
                    <a:pt x="0" y="78927"/>
                  </a:lnTo>
                  <a:cubicBezTo>
                    <a:pt x="0" y="35337"/>
                    <a:pt x="35337" y="0"/>
                    <a:pt x="78927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317555" cy="362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PARADOXO DE JEVONS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16728" y="3085696"/>
            <a:ext cx="5806252" cy="454609"/>
            <a:chOff x="0" y="0"/>
            <a:chExt cx="1529219" cy="1197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9219" cy="119732"/>
            </a:xfrm>
            <a:custGeom>
              <a:avLst/>
              <a:gdLst/>
              <a:ahLst/>
              <a:cxnLst/>
              <a:rect r="r" b="b" t="t" l="l"/>
              <a:pathLst>
                <a:path h="119732" w="1529219">
                  <a:moveTo>
                    <a:pt x="59866" y="0"/>
                  </a:moveTo>
                  <a:lnTo>
                    <a:pt x="1469352" y="0"/>
                  </a:lnTo>
                  <a:cubicBezTo>
                    <a:pt x="1485230" y="0"/>
                    <a:pt x="1500457" y="6307"/>
                    <a:pt x="1511684" y="17534"/>
                  </a:cubicBezTo>
                  <a:cubicBezTo>
                    <a:pt x="1522911" y="28762"/>
                    <a:pt x="1529219" y="43989"/>
                    <a:pt x="1529219" y="59866"/>
                  </a:cubicBezTo>
                  <a:lnTo>
                    <a:pt x="1529219" y="59866"/>
                  </a:lnTo>
                  <a:cubicBezTo>
                    <a:pt x="1529219" y="75744"/>
                    <a:pt x="1522911" y="90971"/>
                    <a:pt x="1511684" y="102198"/>
                  </a:cubicBezTo>
                  <a:cubicBezTo>
                    <a:pt x="1500457" y="113425"/>
                    <a:pt x="1485230" y="119732"/>
                    <a:pt x="1469352" y="119732"/>
                  </a:cubicBezTo>
                  <a:lnTo>
                    <a:pt x="59866" y="119732"/>
                  </a:lnTo>
                  <a:cubicBezTo>
                    <a:pt x="43989" y="119732"/>
                    <a:pt x="28762" y="113425"/>
                    <a:pt x="17534" y="102198"/>
                  </a:cubicBezTo>
                  <a:cubicBezTo>
                    <a:pt x="6307" y="90971"/>
                    <a:pt x="0" y="75744"/>
                    <a:pt x="0" y="59866"/>
                  </a:cubicBezTo>
                  <a:lnTo>
                    <a:pt x="0" y="59866"/>
                  </a:lnTo>
                  <a:cubicBezTo>
                    <a:pt x="0" y="43989"/>
                    <a:pt x="6307" y="28762"/>
                    <a:pt x="17534" y="17534"/>
                  </a:cubicBezTo>
                  <a:cubicBezTo>
                    <a:pt x="28762" y="6307"/>
                    <a:pt x="43989" y="0"/>
                    <a:pt x="59866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529219" cy="176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William Stanley Jevons — 1865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9019854" y="2341239"/>
            <a:ext cx="0" cy="7444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946345" y="2742965"/>
            <a:ext cx="9568084" cy="8237772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true" flipV="false" rot="0">
            <a:off x="1821445" y="4804451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4032504" y="0"/>
                </a:moveTo>
                <a:lnTo>
                  <a:pt x="0" y="0"/>
                </a:lnTo>
                <a:lnTo>
                  <a:pt x="0" y="4114800"/>
                </a:lnTo>
                <a:lnTo>
                  <a:pt x="4032504" y="4114800"/>
                </a:lnTo>
                <a:lnTo>
                  <a:pt x="40325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5179" y="304465"/>
            <a:ext cx="16377642" cy="81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</a:t>
            </a:r>
            <a:r>
              <a:rPr lang="en-US" b="true" sz="4800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 eficiência ≠ necessariamente menor consumo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62809" y="4622914"/>
            <a:ext cx="7295471" cy="3948749"/>
            <a:chOff x="0" y="0"/>
            <a:chExt cx="9727295" cy="526499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5003534" y="4699213"/>
              <a:ext cx="4238411" cy="565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84">
                  <a:solidFill>
                    <a:srgbClr val="000000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FONTE:</a:t>
              </a:r>
              <a:r>
                <a:rPr lang="en-US" sz="1200" spc="84">
                  <a:solidFill>
                    <a:srgbClr val="000000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 WILLIAM STANLEY JEVONS, THE COAL QUESTION (1865)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42875"/>
              <a:ext cx="9727295" cy="106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60"/>
                </a:lnSpc>
              </a:pPr>
              <a:r>
                <a:rPr lang="en-US" b="true" sz="60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APLICANDO À IA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3845" y="1124205"/>
              <a:ext cx="8700891" cy="2016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spc="45">
                  <a:solidFill>
                    <a:srgbClr val="000000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Se a IA fica mais eficiente, podemos utilizá-la em muito mais tarefas — e o consumo total de recursos pode aumentar.</a:t>
              </a:r>
            </a:p>
            <a:p>
              <a:pPr algn="l">
                <a:lnSpc>
                  <a:spcPts val="2239"/>
                </a:lnSpc>
              </a:pPr>
              <a:r>
                <a:rPr lang="en-US" sz="1599" spc="31">
                  <a:solidFill>
                    <a:srgbClr val="000000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🔄 EFICIÊNCIA → MAIS USO → MAIS DEMANDA → MAIS CONSUMO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4271" y="1561001"/>
            <a:ext cx="9695746" cy="1376755"/>
            <a:chOff x="0" y="0"/>
            <a:chExt cx="2553612" cy="3626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3612" cy="362602"/>
            </a:xfrm>
            <a:custGeom>
              <a:avLst/>
              <a:gdLst/>
              <a:ahLst/>
              <a:cxnLst/>
              <a:rect r="r" b="b" t="t" l="l"/>
              <a:pathLst>
                <a:path h="362602" w="2553612">
                  <a:moveTo>
                    <a:pt x="40723" y="0"/>
                  </a:moveTo>
                  <a:lnTo>
                    <a:pt x="2512889" y="0"/>
                  </a:lnTo>
                  <a:cubicBezTo>
                    <a:pt x="2535380" y="0"/>
                    <a:pt x="2553612" y="18232"/>
                    <a:pt x="2553612" y="40723"/>
                  </a:cubicBezTo>
                  <a:lnTo>
                    <a:pt x="2553612" y="321879"/>
                  </a:lnTo>
                  <a:cubicBezTo>
                    <a:pt x="2553612" y="344370"/>
                    <a:pt x="2535380" y="362602"/>
                    <a:pt x="2512889" y="362602"/>
                  </a:cubicBezTo>
                  <a:lnTo>
                    <a:pt x="40723" y="362602"/>
                  </a:lnTo>
                  <a:cubicBezTo>
                    <a:pt x="18232" y="362602"/>
                    <a:pt x="0" y="344370"/>
                    <a:pt x="0" y="321879"/>
                  </a:cubicBezTo>
                  <a:lnTo>
                    <a:pt x="0" y="40723"/>
                  </a:lnTo>
                  <a:cubicBezTo>
                    <a:pt x="0" y="18232"/>
                    <a:pt x="18232" y="0"/>
                    <a:pt x="40723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53612" cy="400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 IA não garante aumento de produtividade: no estudo analisado, os desenvolvedores foram 19% mais lentos quando puderam utilizar IA.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1586" y="3071105"/>
            <a:ext cx="10430152" cy="1271839"/>
            <a:chOff x="0" y="0"/>
            <a:chExt cx="2747036" cy="334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036" cy="334970"/>
            </a:xfrm>
            <a:custGeom>
              <a:avLst/>
              <a:gdLst/>
              <a:ahLst/>
              <a:cxnLst/>
              <a:rect r="r" b="b" t="t" l="l"/>
              <a:pathLst>
                <a:path h="334970" w="2747036">
                  <a:moveTo>
                    <a:pt x="37855" y="0"/>
                  </a:moveTo>
                  <a:lnTo>
                    <a:pt x="2709180" y="0"/>
                  </a:lnTo>
                  <a:cubicBezTo>
                    <a:pt x="2730087" y="0"/>
                    <a:pt x="2747036" y="16948"/>
                    <a:pt x="2747036" y="37855"/>
                  </a:cubicBezTo>
                  <a:lnTo>
                    <a:pt x="2747036" y="297115"/>
                  </a:lnTo>
                  <a:cubicBezTo>
                    <a:pt x="2747036" y="318022"/>
                    <a:pt x="2730087" y="334970"/>
                    <a:pt x="2709180" y="334970"/>
                  </a:cubicBezTo>
                  <a:lnTo>
                    <a:pt x="37855" y="334970"/>
                  </a:lnTo>
                  <a:cubicBezTo>
                    <a:pt x="27816" y="334970"/>
                    <a:pt x="18187" y="330982"/>
                    <a:pt x="11088" y="323882"/>
                  </a:cubicBezTo>
                  <a:cubicBezTo>
                    <a:pt x="3988" y="316783"/>
                    <a:pt x="0" y="307155"/>
                    <a:pt x="0" y="297115"/>
                  </a:cubicBezTo>
                  <a:lnTo>
                    <a:pt x="0" y="37855"/>
                  </a:lnTo>
                  <a:cubicBezTo>
                    <a:pt x="0" y="16948"/>
                    <a:pt x="16948" y="0"/>
                    <a:pt x="37855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036" cy="38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Expectativa ≠ realidade: os participantes esperavam uma redução de 24% no tempo, enquanto o resultado observado foi um aumento de 19%.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58506" y="4476295"/>
            <a:ext cx="10430152" cy="1315360"/>
            <a:chOff x="0" y="0"/>
            <a:chExt cx="2747036" cy="346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036" cy="346432"/>
            </a:xfrm>
            <a:custGeom>
              <a:avLst/>
              <a:gdLst/>
              <a:ahLst/>
              <a:cxnLst/>
              <a:rect r="r" b="b" t="t" l="l"/>
              <a:pathLst>
                <a:path h="346432" w="2747036">
                  <a:moveTo>
                    <a:pt x="37855" y="0"/>
                  </a:moveTo>
                  <a:lnTo>
                    <a:pt x="2709180" y="0"/>
                  </a:lnTo>
                  <a:cubicBezTo>
                    <a:pt x="2730087" y="0"/>
                    <a:pt x="2747036" y="16948"/>
                    <a:pt x="2747036" y="37855"/>
                  </a:cubicBezTo>
                  <a:lnTo>
                    <a:pt x="2747036" y="308577"/>
                  </a:lnTo>
                  <a:cubicBezTo>
                    <a:pt x="2747036" y="318617"/>
                    <a:pt x="2743047" y="328245"/>
                    <a:pt x="2735948" y="335345"/>
                  </a:cubicBezTo>
                  <a:cubicBezTo>
                    <a:pt x="2728849" y="342444"/>
                    <a:pt x="2719220" y="346432"/>
                    <a:pt x="2709180" y="346432"/>
                  </a:cubicBezTo>
                  <a:lnTo>
                    <a:pt x="37855" y="346432"/>
                  </a:lnTo>
                  <a:cubicBezTo>
                    <a:pt x="16948" y="346432"/>
                    <a:pt x="0" y="329484"/>
                    <a:pt x="0" y="308577"/>
                  </a:cubicBezTo>
                  <a:lnTo>
                    <a:pt x="0" y="37855"/>
                  </a:lnTo>
                  <a:cubicBezTo>
                    <a:pt x="0" y="16948"/>
                    <a:pt x="16948" y="0"/>
                    <a:pt x="37855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47036" cy="384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 contexto importa: familiaridade com o projeto, complexidade dos repositórios, necessidade de revisão e limitações da IA influenciaram os resultados.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55141" y="5944055"/>
            <a:ext cx="10430152" cy="1315360"/>
            <a:chOff x="0" y="0"/>
            <a:chExt cx="2747036" cy="3464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7036" cy="346432"/>
            </a:xfrm>
            <a:custGeom>
              <a:avLst/>
              <a:gdLst/>
              <a:ahLst/>
              <a:cxnLst/>
              <a:rect r="r" b="b" t="t" l="l"/>
              <a:pathLst>
                <a:path h="346432" w="2747036">
                  <a:moveTo>
                    <a:pt x="37855" y="0"/>
                  </a:moveTo>
                  <a:lnTo>
                    <a:pt x="2709180" y="0"/>
                  </a:lnTo>
                  <a:cubicBezTo>
                    <a:pt x="2730087" y="0"/>
                    <a:pt x="2747036" y="16948"/>
                    <a:pt x="2747036" y="37855"/>
                  </a:cubicBezTo>
                  <a:lnTo>
                    <a:pt x="2747036" y="308577"/>
                  </a:lnTo>
                  <a:cubicBezTo>
                    <a:pt x="2747036" y="318617"/>
                    <a:pt x="2743047" y="328245"/>
                    <a:pt x="2735948" y="335345"/>
                  </a:cubicBezTo>
                  <a:cubicBezTo>
                    <a:pt x="2728849" y="342444"/>
                    <a:pt x="2719220" y="346432"/>
                    <a:pt x="2709180" y="346432"/>
                  </a:cubicBezTo>
                  <a:lnTo>
                    <a:pt x="37855" y="346432"/>
                  </a:lnTo>
                  <a:cubicBezTo>
                    <a:pt x="16948" y="346432"/>
                    <a:pt x="0" y="329484"/>
                    <a:pt x="0" y="308577"/>
                  </a:cubicBezTo>
                  <a:lnTo>
                    <a:pt x="0" y="37855"/>
                  </a:lnTo>
                  <a:cubicBezTo>
                    <a:pt x="0" y="16948"/>
                    <a:pt x="16948" y="0"/>
                    <a:pt x="37855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47036" cy="384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Existe um custo além do tempo: IA depende de data centers, energia, água, infraestrutura e recursos naturais.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32922" y="7392765"/>
            <a:ext cx="10430152" cy="1315360"/>
            <a:chOff x="0" y="0"/>
            <a:chExt cx="2747036" cy="346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7036" cy="346432"/>
            </a:xfrm>
            <a:custGeom>
              <a:avLst/>
              <a:gdLst/>
              <a:ahLst/>
              <a:cxnLst/>
              <a:rect r="r" b="b" t="t" l="l"/>
              <a:pathLst>
                <a:path h="346432" w="2747036">
                  <a:moveTo>
                    <a:pt x="37855" y="0"/>
                  </a:moveTo>
                  <a:lnTo>
                    <a:pt x="2709180" y="0"/>
                  </a:lnTo>
                  <a:cubicBezTo>
                    <a:pt x="2730087" y="0"/>
                    <a:pt x="2747036" y="16948"/>
                    <a:pt x="2747036" y="37855"/>
                  </a:cubicBezTo>
                  <a:lnTo>
                    <a:pt x="2747036" y="308577"/>
                  </a:lnTo>
                  <a:cubicBezTo>
                    <a:pt x="2747036" y="318617"/>
                    <a:pt x="2743047" y="328245"/>
                    <a:pt x="2735948" y="335345"/>
                  </a:cubicBezTo>
                  <a:cubicBezTo>
                    <a:pt x="2728849" y="342444"/>
                    <a:pt x="2719220" y="346432"/>
                    <a:pt x="2709180" y="346432"/>
                  </a:cubicBezTo>
                  <a:lnTo>
                    <a:pt x="37855" y="346432"/>
                  </a:lnTo>
                  <a:cubicBezTo>
                    <a:pt x="16948" y="346432"/>
                    <a:pt x="0" y="329484"/>
                    <a:pt x="0" y="308577"/>
                  </a:cubicBezTo>
                  <a:lnTo>
                    <a:pt x="0" y="37855"/>
                  </a:lnTo>
                  <a:cubicBezTo>
                    <a:pt x="0" y="16948"/>
                    <a:pt x="16948" y="0"/>
                    <a:pt x="37855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47036" cy="384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Produtividade também envolve custos: o ganho de eficiência precisa ser analisado junto aos recursos necessários para manter a tecnologia.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63272" y="8860526"/>
            <a:ext cx="10430152" cy="1315360"/>
            <a:chOff x="0" y="0"/>
            <a:chExt cx="2747036" cy="3464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7036" cy="346432"/>
            </a:xfrm>
            <a:custGeom>
              <a:avLst/>
              <a:gdLst/>
              <a:ahLst/>
              <a:cxnLst/>
              <a:rect r="r" b="b" t="t" l="l"/>
              <a:pathLst>
                <a:path h="346432" w="2747036">
                  <a:moveTo>
                    <a:pt x="37855" y="0"/>
                  </a:moveTo>
                  <a:lnTo>
                    <a:pt x="2709180" y="0"/>
                  </a:lnTo>
                  <a:cubicBezTo>
                    <a:pt x="2730087" y="0"/>
                    <a:pt x="2747036" y="16948"/>
                    <a:pt x="2747036" y="37855"/>
                  </a:cubicBezTo>
                  <a:lnTo>
                    <a:pt x="2747036" y="308577"/>
                  </a:lnTo>
                  <a:cubicBezTo>
                    <a:pt x="2747036" y="318617"/>
                    <a:pt x="2743047" y="328245"/>
                    <a:pt x="2735948" y="335345"/>
                  </a:cubicBezTo>
                  <a:cubicBezTo>
                    <a:pt x="2728849" y="342444"/>
                    <a:pt x="2719220" y="346432"/>
                    <a:pt x="2709180" y="346432"/>
                  </a:cubicBezTo>
                  <a:lnTo>
                    <a:pt x="37855" y="346432"/>
                  </a:lnTo>
                  <a:cubicBezTo>
                    <a:pt x="16948" y="346432"/>
                    <a:pt x="0" y="329484"/>
                    <a:pt x="0" y="308577"/>
                  </a:cubicBezTo>
                  <a:lnTo>
                    <a:pt x="0" y="37855"/>
                  </a:lnTo>
                  <a:cubicBezTo>
                    <a:pt x="0" y="16948"/>
                    <a:pt x="16948" y="0"/>
                    <a:pt x="37855" y="0"/>
                  </a:cubicBezTo>
                  <a:close/>
                </a:path>
              </a:pathLst>
            </a:custGeom>
            <a:solidFill>
              <a:srgbClr val="54BEC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747036" cy="384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Paradoxo de Jevons: maior eficiência pode estimular maior utilização e, consequentemente, aumentar o consumo total de recursos.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05448" y="7466973"/>
            <a:ext cx="1706116" cy="2820027"/>
          </a:xfrm>
          <a:custGeom>
            <a:avLst/>
            <a:gdLst/>
            <a:ahLst/>
            <a:cxnLst/>
            <a:rect r="r" b="b" t="t" l="l"/>
            <a:pathLst>
              <a:path h="2820027" w="1706116">
                <a:moveTo>
                  <a:pt x="0" y="0"/>
                </a:moveTo>
                <a:lnTo>
                  <a:pt x="1706116" y="0"/>
                </a:lnTo>
                <a:lnTo>
                  <a:pt x="1706116" y="2820027"/>
                </a:lnTo>
                <a:lnTo>
                  <a:pt x="0" y="2820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976626" y="1524115"/>
            <a:ext cx="2740637" cy="2548793"/>
          </a:xfrm>
          <a:custGeom>
            <a:avLst/>
            <a:gdLst/>
            <a:ahLst/>
            <a:cxnLst/>
            <a:rect r="r" b="b" t="t" l="l"/>
            <a:pathLst>
              <a:path h="2548793" w="2740637">
                <a:moveTo>
                  <a:pt x="0" y="0"/>
                </a:moveTo>
                <a:lnTo>
                  <a:pt x="2740637" y="0"/>
                </a:lnTo>
                <a:lnTo>
                  <a:pt x="2740637" y="2548793"/>
                </a:lnTo>
                <a:lnTo>
                  <a:pt x="0" y="2548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65654" y="379736"/>
            <a:ext cx="16131580" cy="778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produtividade ou apenas percepção de produtividade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65696" y="1241492"/>
            <a:ext cx="472083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27691" y="2636587"/>
            <a:ext cx="707033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44392" y="4031681"/>
            <a:ext cx="704652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72325" y="5426775"/>
            <a:ext cx="709414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28298" y="6821870"/>
            <a:ext cx="73025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978843" y="8398828"/>
            <a:ext cx="736203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25711" y="332111"/>
            <a:ext cx="6011466" cy="125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804" y="1929367"/>
            <a:ext cx="17860392" cy="9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Microsoft Research / GitHub Copilot (2023)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https://www.microsoft.com/en-us/research/publication/the-impact-of-ai-on-developer-productivity-evidence-from-github-copilot/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339" y="3122730"/>
            <a:ext cx="18071661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Microsoft + Accenture + Fortune 100 (2025)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https://www.microsoft.com/en-us/research/publication/the-effects-of-generative-ai-on-high-skilled-work-evidence-from-three-field-experiments-with-software-developers/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868345"/>
            <a:ext cx="15722587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METR</a:t>
            </a: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(2025)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https://metr.org/blog/2025-07-10-early-2025-ai-experienced-os-dev-study/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339" y="5585260"/>
            <a:ext cx="18076731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Scie</a:t>
            </a: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nce — Who is using AI to code? (2026)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https://www.science.org/doi/10.1126/science.adz9311?referrer=https%3A%2F%2Fwww.google.com%2F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04" y="6816525"/>
            <a:ext cx="17835280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eputyDev / Intuition to Evidence (2025) :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https://arxiv.org/abs/2509.19708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533440"/>
            <a:ext cx="14666240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Stack Ov</a:t>
            </a: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erflow Developer Survey (2025) :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https://survey.stackoverflow.co/2025/ai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339" y="8146950"/>
            <a:ext cx="16959834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Caso Samsung</a:t>
            </a: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(2023) :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https://exame.com/tecnologia/samsung-proibe-uso-de-ia-apos-vazamento-de-dados-com-chatgpt/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804" y="9274810"/>
            <a:ext cx="17589324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Inteligência Artificial e Meio Ambiente, da Fundação FHC: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https://fundacaofhc.org.br/wp-content/uploads/2025/03/cadernos-vale-a-pena-perguntar-inteligencia-artificial-e-meio-ambiente.pdf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25711" y="332111"/>
            <a:ext cx="6011466" cy="125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804" y="1929367"/>
            <a:ext cx="17860392" cy="9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Microsoft Research / GitHub Copilot (2026)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  <a:r>
              <a:rPr lang="en-US" sz="28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engineering.atspotify.com/2026/6/code-with-claude-coding-is-no-longer-the-constraint"/>
              </a:rPr>
              <a:t>https://www.microsoft.com/en-us/research/publication/the-impact-of-ai-on-developer-productivity-evidence-from-github-copilot/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A3A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DAHV71uX-LU</dc:identifier>
  <dcterms:modified xsi:type="dcterms:W3CDTF">2011-08-01T06:04:30Z</dcterms:modified>
  <cp:revision>1</cp:revision>
  <dc:title>Inserir um título</dc:title>
</cp:coreProperties>
</file>